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d25a01e8-153a-2281-0b62-f605d5c7b100}">
          <p14:sldIdLst>
            <p14:sldId id="256"/>
            <p14:sldId id="257"/>
          </p14:sldIdLst>
        </p14:section>
        <p14:section name="Results" id="{ffa8292a-6b37-335d-e744-1a50bdcb22fa}">
          <p14:sldIdLst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4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 large"/>
          <p:cNvSpPr/>
          <p:nvPr/>
        </p:nvSpPr>
        <p:spPr>
          <a:xfrm>
            <a:off x="8869680" y="4297680"/>
            <a:ext cx="4023360" cy="4023360"/>
          </a:xfrm>
          <a:prstGeom prst="ellipse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3" name="Decor circle small"/>
          <p:cNvSpPr/>
          <p:nvPr/>
        </p:nvSpPr>
        <p:spPr>
          <a:xfrm>
            <a:off x="8138160" y="5486400"/>
            <a:ext cx="1097280" cy="1097280"/>
          </a:xfrm>
          <a:prstGeom prst="ellipse">
            <a:avLst/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4" name="Kicker"/>
          <p:cNvSpPr txBox="1"/>
          <p:nvPr/>
        </p:nvSpPr>
        <p:spPr>
          <a:xfrm>
            <a:off x="82296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UPI TRANSACTION ANALYTICS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23317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Data Validation Using Excel</a:t>
            </a:r>
            <a:endParaRPr lang="en-US" sz="5400" dirty="0"/>
          </a:p>
        </p:txBody>
      </p:sp>
      <p:sp>
        <p:nvSpPr>
          <p:cNvPr id="6" name="Subtitle"/>
          <p:cNvSpPr txBox="1"/>
          <p:nvPr/>
        </p:nvSpPr>
        <p:spPr>
          <a:xfrm>
            <a:off x="822960" y="3749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5"/>
                </a:solidFill>
              </a:rPr>
              <a:t>Step 2: Validation steps and findings</a:t>
            </a:r>
            <a:endParaRPr lang="en-US" sz="2400" dirty="0"/>
          </a:p>
        </p:txBody>
      </p:sp>
      <p:sp>
        <p:nvSpPr>
          <p:cNvPr id="7" name="Author"/>
          <p:cNvSpPr txBox="1"/>
          <p:nvPr/>
        </p:nvSpPr>
        <p:spPr>
          <a:xfrm>
            <a:off x="822960" y="4572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Akshay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we checked</a:t>
            </a:r>
            <a:endParaRPr lang="en-US" sz="3600" dirty="0"/>
          </a:p>
        </p:txBody>
      </p:sp>
      <p:sp>
        <p:nvSpPr>
          <p:cNvPr id="3" name="Check 1 card"/>
          <p:cNvSpPr/>
          <p:nvPr/>
        </p:nvSpPr>
        <p:spPr>
          <a:xfrm>
            <a:off x="640080" y="1554480"/>
            <a:ext cx="3453689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heck 1 circle"/>
          <p:cNvSpPr/>
          <p:nvPr/>
        </p:nvSpPr>
        <p:spPr>
          <a:xfrm>
            <a:off x="91440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Check 1 label"/>
          <p:cNvSpPr txBox="1"/>
          <p:nvPr/>
        </p:nvSpPr>
        <p:spPr>
          <a:xfrm>
            <a:off x="9144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Check 1 title"/>
          <p:cNvSpPr txBox="1"/>
          <p:nvPr/>
        </p:nvSpPr>
        <p:spPr>
          <a:xfrm>
            <a:off x="914400" y="2377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Row counts</a:t>
            </a:r>
            <a:endParaRPr lang="en-US" sz="2200" dirty="0"/>
          </a:p>
        </p:txBody>
      </p:sp>
      <p:sp>
        <p:nvSpPr>
          <p:cNvPr id="7" name="Check 1 text"/>
          <p:cNvSpPr txBox="1"/>
          <p:nvPr/>
        </p:nvSpPr>
        <p:spPr>
          <a:xfrm>
            <a:off x="914400" y="28346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All 7 tables loaded; counts match the original CSV files</a:t>
            </a:r>
            <a:endParaRPr lang="en-US" sz="1600" dirty="0"/>
          </a:p>
        </p:txBody>
      </p:sp>
      <p:sp>
        <p:nvSpPr>
          <p:cNvPr id="8" name="Check 2 card"/>
          <p:cNvSpPr/>
          <p:nvPr/>
        </p:nvSpPr>
        <p:spPr>
          <a:xfrm>
            <a:off x="4368089" y="1554480"/>
            <a:ext cx="3453689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Check 2 circle"/>
          <p:cNvSpPr/>
          <p:nvPr/>
        </p:nvSpPr>
        <p:spPr>
          <a:xfrm>
            <a:off x="4642409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Check 2 label"/>
          <p:cNvSpPr txBox="1"/>
          <p:nvPr/>
        </p:nvSpPr>
        <p:spPr>
          <a:xfrm>
            <a:off x="4642409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Check 2 title"/>
          <p:cNvSpPr txBox="1"/>
          <p:nvPr/>
        </p:nvSpPr>
        <p:spPr>
          <a:xfrm>
            <a:off x="4642409" y="2377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Foreign keys</a:t>
            </a:r>
            <a:endParaRPr lang="en-US" sz="2200" dirty="0"/>
          </a:p>
        </p:txBody>
      </p:sp>
      <p:sp>
        <p:nvSpPr>
          <p:cNvPr id="12" name="Check 2 text"/>
          <p:cNvSpPr txBox="1"/>
          <p:nvPr/>
        </p:nvSpPr>
        <p:spPr>
          <a:xfrm>
            <a:off x="4642409" y="28346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8 relationships checked with MATCH formulas (fk_check columns)</a:t>
            </a:r>
            <a:endParaRPr lang="en-US" sz="1600" dirty="0"/>
          </a:p>
        </p:txBody>
      </p:sp>
      <p:sp>
        <p:nvSpPr>
          <p:cNvPr id="13" name="Check 3 card"/>
          <p:cNvSpPr/>
          <p:nvPr/>
        </p:nvSpPr>
        <p:spPr>
          <a:xfrm>
            <a:off x="8096098" y="1554480"/>
            <a:ext cx="3453689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Check 3 circle"/>
          <p:cNvSpPr/>
          <p:nvPr/>
        </p:nvSpPr>
        <p:spPr>
          <a:xfrm>
            <a:off x="8370418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Check 3 label"/>
          <p:cNvSpPr txBox="1"/>
          <p:nvPr/>
        </p:nvSpPr>
        <p:spPr>
          <a:xfrm>
            <a:off x="837041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Check 3 title"/>
          <p:cNvSpPr txBox="1"/>
          <p:nvPr/>
        </p:nvSpPr>
        <p:spPr>
          <a:xfrm>
            <a:off x="8370418" y="2377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Blank values</a:t>
            </a:r>
            <a:endParaRPr lang="en-US" sz="2200" dirty="0"/>
          </a:p>
        </p:txBody>
      </p:sp>
      <p:sp>
        <p:nvSpPr>
          <p:cNvPr id="17" name="Check 3 text"/>
          <p:cNvSpPr txBox="1"/>
          <p:nvPr/>
        </p:nvSpPr>
        <p:spPr>
          <a:xfrm>
            <a:off x="8370418" y="28346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Critical columns highlighted red when blank</a:t>
            </a:r>
            <a:endParaRPr lang="en-US" sz="1600" dirty="0"/>
          </a:p>
        </p:txBody>
      </p:sp>
      <p:sp>
        <p:nvSpPr>
          <p:cNvPr id="18" name="Check 4 card"/>
          <p:cNvSpPr/>
          <p:nvPr/>
        </p:nvSpPr>
        <p:spPr>
          <a:xfrm>
            <a:off x="640080" y="4023360"/>
            <a:ext cx="3453689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Check 4 circle"/>
          <p:cNvSpPr/>
          <p:nvPr/>
        </p:nvSpPr>
        <p:spPr>
          <a:xfrm>
            <a:off x="914400" y="4251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Check 4 label"/>
          <p:cNvSpPr txBox="1"/>
          <p:nvPr/>
        </p:nvSpPr>
        <p:spPr>
          <a:xfrm>
            <a:off x="91440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Check 4 title"/>
          <p:cNvSpPr txBox="1"/>
          <p:nvPr/>
        </p:nvSpPr>
        <p:spPr>
          <a:xfrm>
            <a:off x="914400" y="4846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Categories</a:t>
            </a:r>
            <a:endParaRPr lang="en-US" sz="2200" dirty="0"/>
          </a:p>
        </p:txBody>
      </p:sp>
      <p:sp>
        <p:nvSpPr>
          <p:cNvPr id="22" name="Check 4 text"/>
          <p:cNvSpPr txBox="1"/>
          <p:nvPr/>
        </p:nvSpPr>
        <p:spPr>
          <a:xfrm>
            <a:off x="914400" y="5303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Status, device, channel and type checked; typos shown in yellow</a:t>
            </a:r>
            <a:endParaRPr lang="en-US" sz="1600" dirty="0"/>
          </a:p>
        </p:txBody>
      </p:sp>
      <p:sp>
        <p:nvSpPr>
          <p:cNvPr id="23" name="Check 5 card"/>
          <p:cNvSpPr/>
          <p:nvPr/>
        </p:nvSpPr>
        <p:spPr>
          <a:xfrm>
            <a:off x="4368089" y="4023360"/>
            <a:ext cx="3453689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Check 5 circle"/>
          <p:cNvSpPr/>
          <p:nvPr/>
        </p:nvSpPr>
        <p:spPr>
          <a:xfrm>
            <a:off x="4642409" y="4251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Check 5 label"/>
          <p:cNvSpPr txBox="1"/>
          <p:nvPr/>
        </p:nvSpPr>
        <p:spPr>
          <a:xfrm>
            <a:off x="4642409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Check 5 title"/>
          <p:cNvSpPr txBox="1"/>
          <p:nvPr/>
        </p:nvSpPr>
        <p:spPr>
          <a:xfrm>
            <a:off x="4642409" y="4846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Dates and formats</a:t>
            </a:r>
            <a:endParaRPr lang="en-US" sz="2200" dirty="0"/>
          </a:p>
        </p:txBody>
      </p:sp>
      <p:sp>
        <p:nvSpPr>
          <p:cNvPr id="27" name="Check 5 text"/>
          <p:cNvSpPr txBox="1"/>
          <p:nvPr/>
        </p:nvSpPr>
        <p:spPr>
          <a:xfrm>
            <a:off x="4642409" y="5303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One consistent date format across all tables</a:t>
            </a:r>
            <a:endParaRPr lang="en-US" sz="1600" dirty="0"/>
          </a:p>
        </p:txBody>
      </p:sp>
      <p:sp>
        <p:nvSpPr>
          <p:cNvPr id="28" name="Check 6 card"/>
          <p:cNvSpPr/>
          <p:nvPr/>
        </p:nvSpPr>
        <p:spPr>
          <a:xfrm>
            <a:off x="8096098" y="4023360"/>
            <a:ext cx="3453689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9" name="Check 6 circle"/>
          <p:cNvSpPr/>
          <p:nvPr/>
        </p:nvSpPr>
        <p:spPr>
          <a:xfrm>
            <a:off x="8370418" y="4251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Check 6 label"/>
          <p:cNvSpPr txBox="1"/>
          <p:nvPr/>
        </p:nvSpPr>
        <p:spPr>
          <a:xfrm>
            <a:off x="8370418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Check 6 title"/>
          <p:cNvSpPr txBox="1"/>
          <p:nvPr/>
        </p:nvSpPr>
        <p:spPr>
          <a:xfrm>
            <a:off x="8370418" y="4846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Row flags and log</a:t>
            </a:r>
            <a:endParaRPr lang="en-US" sz="2200" dirty="0"/>
          </a:p>
        </p:txBody>
      </p:sp>
      <p:sp>
        <p:nvSpPr>
          <p:cNvPr id="32" name="Check 6 text"/>
          <p:cNvSpPr txBox="1"/>
          <p:nvPr/>
        </p:nvSpPr>
        <p:spPr>
          <a:xfrm>
            <a:off x="8370418" y="5303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validation_status flags rows to review; issues go to the log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Checks passed</a:t>
            </a:r>
            <a:endParaRPr lang="en-US" sz="3600" dirty="0"/>
          </a:p>
        </p:txBody>
      </p:sp>
      <p:sp>
        <p:nvSpPr>
          <p:cNvPr id="3" name="Passed 1 card"/>
          <p:cNvSpPr/>
          <p:nvPr/>
        </p:nvSpPr>
        <p:spPr>
          <a:xfrm>
            <a:off x="640080" y="1554480"/>
            <a:ext cx="10908792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Passed 1 circle"/>
          <p:cNvSpPr/>
          <p:nvPr/>
        </p:nvSpPr>
        <p:spPr>
          <a:xfrm>
            <a:off x="914400" y="17007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Passed 1 label"/>
          <p:cNvSpPr txBox="1"/>
          <p:nvPr/>
        </p:nvSpPr>
        <p:spPr>
          <a:xfrm>
            <a:off x="914400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Passed 1 title"/>
          <p:cNvSpPr txBox="1"/>
          <p:nvPr/>
        </p:nvSpPr>
        <p:spPr>
          <a:xfrm>
            <a:off x="1645920" y="155448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Row counts</a:t>
            </a:r>
            <a:endParaRPr lang="en-US" sz="2000" dirty="0"/>
          </a:p>
        </p:txBody>
      </p:sp>
      <p:sp>
        <p:nvSpPr>
          <p:cNvPr id="7" name="Passed 1 text"/>
          <p:cNvSpPr txBox="1"/>
          <p:nvPr/>
        </p:nvSpPr>
        <p:spPr>
          <a:xfrm>
            <a:off x="4480560" y="1554480"/>
            <a:ext cx="5577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Customers 10,000 · Transactions 100,000 · all 7 tables match the source files</a:t>
            </a:r>
            <a:endParaRPr lang="en-US" sz="1800" dirty="0"/>
          </a:p>
        </p:txBody>
      </p:sp>
      <p:sp>
        <p:nvSpPr>
          <p:cNvPr id="8" name="Passed 1 chip"/>
          <p:cNvSpPr/>
          <p:nvPr/>
        </p:nvSpPr>
        <p:spPr>
          <a:xfrm>
            <a:off x="10241280" y="1723644"/>
            <a:ext cx="109728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/>
        </p:spPr>
      </p:sp>
      <p:sp>
        <p:nvSpPr>
          <p:cNvPr id="9" name="Passed 1 chip label"/>
          <p:cNvSpPr txBox="1"/>
          <p:nvPr/>
        </p:nvSpPr>
        <p:spPr>
          <a:xfrm>
            <a:off x="10241280" y="172364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PASS</a:t>
            </a:r>
            <a:endParaRPr lang="en-US" sz="1400" dirty="0"/>
          </a:p>
        </p:txBody>
      </p:sp>
      <p:sp>
        <p:nvSpPr>
          <p:cNvPr id="10" name="Passed 2 card"/>
          <p:cNvSpPr/>
          <p:nvPr/>
        </p:nvSpPr>
        <p:spPr>
          <a:xfrm>
            <a:off x="640080" y="2441448"/>
            <a:ext cx="10908792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Passed 2 circle"/>
          <p:cNvSpPr/>
          <p:nvPr/>
        </p:nvSpPr>
        <p:spPr>
          <a:xfrm>
            <a:off x="914400" y="25877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Passed 2 label"/>
          <p:cNvSpPr txBox="1"/>
          <p:nvPr/>
        </p:nvSpPr>
        <p:spPr>
          <a:xfrm>
            <a:off x="91440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Passed 2 title"/>
          <p:cNvSpPr txBox="1"/>
          <p:nvPr/>
        </p:nvSpPr>
        <p:spPr>
          <a:xfrm>
            <a:off x="1645920" y="244144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Foreign keys</a:t>
            </a:r>
            <a:endParaRPr lang="en-US" sz="2000" dirty="0"/>
          </a:p>
        </p:txBody>
      </p:sp>
      <p:sp>
        <p:nvSpPr>
          <p:cNvPr id="14" name="Passed 2 text"/>
          <p:cNvSpPr txBox="1"/>
          <p:nvPr/>
        </p:nvSpPr>
        <p:spPr>
          <a:xfrm>
            <a:off x="4480560" y="2441448"/>
            <a:ext cx="5577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8 of 8 relationships have 0 missing parent IDs</a:t>
            </a:r>
            <a:endParaRPr lang="en-US" sz="1800" dirty="0"/>
          </a:p>
        </p:txBody>
      </p:sp>
      <p:sp>
        <p:nvSpPr>
          <p:cNvPr id="15" name="Passed 2 chip"/>
          <p:cNvSpPr/>
          <p:nvPr/>
        </p:nvSpPr>
        <p:spPr>
          <a:xfrm>
            <a:off x="10241280" y="2610612"/>
            <a:ext cx="109728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/>
        </p:spPr>
      </p:sp>
      <p:sp>
        <p:nvSpPr>
          <p:cNvPr id="16" name="Passed 2 chip label"/>
          <p:cNvSpPr txBox="1"/>
          <p:nvPr/>
        </p:nvSpPr>
        <p:spPr>
          <a:xfrm>
            <a:off x="10241280" y="261061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PASS</a:t>
            </a:r>
            <a:endParaRPr lang="en-US" sz="1400" dirty="0"/>
          </a:p>
        </p:txBody>
      </p:sp>
      <p:sp>
        <p:nvSpPr>
          <p:cNvPr id="17" name="Passed 3 card"/>
          <p:cNvSpPr/>
          <p:nvPr/>
        </p:nvSpPr>
        <p:spPr>
          <a:xfrm>
            <a:off x="640080" y="3328416"/>
            <a:ext cx="10908792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Passed 3 circle"/>
          <p:cNvSpPr/>
          <p:nvPr/>
        </p:nvSpPr>
        <p:spPr>
          <a:xfrm>
            <a:off x="914400" y="3474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Passed 3 label"/>
          <p:cNvSpPr txBox="1"/>
          <p:nvPr/>
        </p:nvSpPr>
        <p:spPr>
          <a:xfrm>
            <a:off x="9144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Passed 3 title"/>
          <p:cNvSpPr txBox="1"/>
          <p:nvPr/>
        </p:nvSpPr>
        <p:spPr>
          <a:xfrm>
            <a:off x="1645920" y="3328416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Critical blanks</a:t>
            </a:r>
            <a:endParaRPr lang="en-US" sz="2000" dirty="0"/>
          </a:p>
        </p:txBody>
      </p:sp>
      <p:sp>
        <p:nvSpPr>
          <p:cNvPr id="21" name="Passed 3 text"/>
          <p:cNvSpPr txBox="1"/>
          <p:nvPr/>
        </p:nvSpPr>
        <p:spPr>
          <a:xfrm>
            <a:off x="4480560" y="3328416"/>
            <a:ext cx="5577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0 blank cells in amount, status, fraud_flag, risk_score, device_type</a:t>
            </a:r>
            <a:endParaRPr lang="en-US" sz="1800" dirty="0"/>
          </a:p>
        </p:txBody>
      </p:sp>
      <p:sp>
        <p:nvSpPr>
          <p:cNvPr id="22" name="Passed 3 chip"/>
          <p:cNvSpPr/>
          <p:nvPr/>
        </p:nvSpPr>
        <p:spPr>
          <a:xfrm>
            <a:off x="10241280" y="3497580"/>
            <a:ext cx="109728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/>
        </p:spPr>
      </p:sp>
      <p:sp>
        <p:nvSpPr>
          <p:cNvPr id="23" name="Passed 3 chip label"/>
          <p:cNvSpPr txBox="1"/>
          <p:nvPr/>
        </p:nvSpPr>
        <p:spPr>
          <a:xfrm>
            <a:off x="10241280" y="34975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PASS</a:t>
            </a:r>
            <a:endParaRPr lang="en-US" sz="1400" dirty="0"/>
          </a:p>
        </p:txBody>
      </p:sp>
      <p:sp>
        <p:nvSpPr>
          <p:cNvPr id="24" name="Passed 4 card"/>
          <p:cNvSpPr/>
          <p:nvPr/>
        </p:nvSpPr>
        <p:spPr>
          <a:xfrm>
            <a:off x="640080" y="4215384"/>
            <a:ext cx="10908792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Passed 4 circle"/>
          <p:cNvSpPr/>
          <p:nvPr/>
        </p:nvSpPr>
        <p:spPr>
          <a:xfrm>
            <a:off x="914400" y="43616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Passed 4 label"/>
          <p:cNvSpPr txBox="1"/>
          <p:nvPr/>
        </p:nvSpPr>
        <p:spPr>
          <a:xfrm>
            <a:off x="914400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Passed 4 title"/>
          <p:cNvSpPr txBox="1"/>
          <p:nvPr/>
        </p:nvSpPr>
        <p:spPr>
          <a:xfrm>
            <a:off x="1645920" y="4215384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Categories</a:t>
            </a:r>
            <a:endParaRPr lang="en-US" sz="2000" dirty="0"/>
          </a:p>
        </p:txBody>
      </p:sp>
      <p:sp>
        <p:nvSpPr>
          <p:cNvPr id="28" name="Passed 4 text"/>
          <p:cNvSpPr txBox="1"/>
          <p:nvPr/>
        </p:nvSpPr>
        <p:spPr>
          <a:xfrm>
            <a:off x="4480560" y="4215384"/>
            <a:ext cx="5577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0 typos or invalid values in all categorical columns</a:t>
            </a:r>
            <a:endParaRPr lang="en-US" sz="1800" dirty="0"/>
          </a:p>
        </p:txBody>
      </p:sp>
      <p:sp>
        <p:nvSpPr>
          <p:cNvPr id="29" name="Passed 4 chip"/>
          <p:cNvSpPr/>
          <p:nvPr/>
        </p:nvSpPr>
        <p:spPr>
          <a:xfrm>
            <a:off x="10241280" y="4384548"/>
            <a:ext cx="109728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/>
        </p:spPr>
      </p:sp>
      <p:sp>
        <p:nvSpPr>
          <p:cNvPr id="30" name="Passed 4 chip label"/>
          <p:cNvSpPr txBox="1"/>
          <p:nvPr/>
        </p:nvSpPr>
        <p:spPr>
          <a:xfrm>
            <a:off x="10241280" y="43845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PASS</a:t>
            </a:r>
            <a:endParaRPr lang="en-US" sz="1400" dirty="0"/>
          </a:p>
        </p:txBody>
      </p:sp>
      <p:sp>
        <p:nvSpPr>
          <p:cNvPr id="31" name="Passed 5 card"/>
          <p:cNvSpPr/>
          <p:nvPr/>
        </p:nvSpPr>
        <p:spPr>
          <a:xfrm>
            <a:off x="640080" y="5102352"/>
            <a:ext cx="10908792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2" name="Passed 5 circle"/>
          <p:cNvSpPr/>
          <p:nvPr/>
        </p:nvSpPr>
        <p:spPr>
          <a:xfrm>
            <a:off x="914400" y="524865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Passed 5 label"/>
          <p:cNvSpPr txBox="1"/>
          <p:nvPr/>
        </p:nvSpPr>
        <p:spPr>
          <a:xfrm>
            <a:off x="914400" y="5248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Passed 5 title"/>
          <p:cNvSpPr txBox="1"/>
          <p:nvPr/>
        </p:nvSpPr>
        <p:spPr>
          <a:xfrm>
            <a:off x="1645920" y="5102352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Duplicate IDs</a:t>
            </a:r>
            <a:endParaRPr lang="en-US" sz="2000" dirty="0"/>
          </a:p>
        </p:txBody>
      </p:sp>
      <p:sp>
        <p:nvSpPr>
          <p:cNvPr id="35" name="Passed 5 text"/>
          <p:cNvSpPr txBox="1"/>
          <p:nvPr/>
        </p:nvSpPr>
        <p:spPr>
          <a:xfrm>
            <a:off x="4480560" y="5102352"/>
            <a:ext cx="5577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0 duplicate primary keys in all 7 tables</a:t>
            </a:r>
            <a:endParaRPr lang="en-US" sz="1800" dirty="0"/>
          </a:p>
        </p:txBody>
      </p:sp>
      <p:sp>
        <p:nvSpPr>
          <p:cNvPr id="36" name="Passed 5 chip"/>
          <p:cNvSpPr/>
          <p:nvPr/>
        </p:nvSpPr>
        <p:spPr>
          <a:xfrm>
            <a:off x="10241280" y="5271516"/>
            <a:ext cx="109728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/>
        </p:spPr>
      </p:sp>
      <p:sp>
        <p:nvSpPr>
          <p:cNvPr id="37" name="Passed 5 chip label"/>
          <p:cNvSpPr txBox="1"/>
          <p:nvPr/>
        </p:nvSpPr>
        <p:spPr>
          <a:xfrm>
            <a:off x="10241280" y="527151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PASS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Issues found</a:t>
            </a:r>
            <a:endParaRPr lang="en-US" sz="3600" dirty="0"/>
          </a:p>
        </p:txBody>
      </p:sp>
      <p:sp>
        <p:nvSpPr>
          <p:cNvPr id="3" name="Header issue"/>
          <p:cNvSpPr txBox="1"/>
          <p:nvPr/>
        </p:nvSpPr>
        <p:spPr>
          <a:xfrm>
            <a:off x="914400" y="1371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Issue</a:t>
            </a:r>
            <a:endParaRPr lang="en-US" sz="1400" dirty="0"/>
          </a:p>
        </p:txBody>
      </p:sp>
      <p:sp>
        <p:nvSpPr>
          <p:cNvPr id="4" name="Header where"/>
          <p:cNvSpPr txBox="1"/>
          <p:nvPr/>
        </p:nvSpPr>
        <p:spPr>
          <a:xfrm>
            <a:off x="521208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Where</a:t>
            </a:r>
            <a:endParaRPr lang="en-US" sz="1400" dirty="0"/>
          </a:p>
        </p:txBody>
      </p:sp>
      <p:sp>
        <p:nvSpPr>
          <p:cNvPr id="5" name="Header rows"/>
          <p:cNvSpPr txBox="1"/>
          <p:nvPr/>
        </p:nvSpPr>
        <p:spPr>
          <a:xfrm>
            <a:off x="8595360" y="1371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Rows</a:t>
            </a:r>
            <a:endParaRPr lang="en-US" sz="1400" dirty="0"/>
          </a:p>
        </p:txBody>
      </p:sp>
      <p:sp>
        <p:nvSpPr>
          <p:cNvPr id="6" name="Header percent"/>
          <p:cNvSpPr txBox="1"/>
          <p:nvPr/>
        </p:nvSpPr>
        <p:spPr>
          <a:xfrm>
            <a:off x="996696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% of rows</a:t>
            </a:r>
            <a:endParaRPr lang="en-US" sz="1400" dirty="0"/>
          </a:p>
        </p:txBody>
      </p:sp>
      <p:sp>
        <p:nvSpPr>
          <p:cNvPr id="7" name="Issue 1 card"/>
          <p:cNvSpPr/>
          <p:nvPr/>
        </p:nvSpPr>
        <p:spPr>
          <a:xfrm>
            <a:off x="640080" y="1783080"/>
            <a:ext cx="10908792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Issue 1 title"/>
          <p:cNvSpPr txBox="1"/>
          <p:nvPr/>
        </p:nvSpPr>
        <p:spPr>
          <a:xfrm>
            <a:off x="914400" y="178308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Blocked/suspended UPI used</a:t>
            </a:r>
            <a:endParaRPr lang="en-US" sz="1600" dirty="0"/>
          </a:p>
        </p:txBody>
      </p:sp>
      <p:sp>
        <p:nvSpPr>
          <p:cNvPr id="9" name="Issue 1 where"/>
          <p:cNvSpPr txBox="1"/>
          <p:nvPr/>
        </p:nvSpPr>
        <p:spPr>
          <a:xfrm>
            <a:off x="5212080" y="17830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transactions · upi_id</a:t>
            </a:r>
            <a:endParaRPr lang="en-US" sz="1600" dirty="0"/>
          </a:p>
        </p:txBody>
      </p:sp>
      <p:sp>
        <p:nvSpPr>
          <p:cNvPr id="10" name="Issue 1 rows"/>
          <p:cNvSpPr txBox="1"/>
          <p:nvPr/>
        </p:nvSpPr>
        <p:spPr>
          <a:xfrm>
            <a:off x="8595360" y="17830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7,115</a:t>
            </a:r>
            <a:endParaRPr lang="en-US" sz="1800" dirty="0"/>
          </a:p>
        </p:txBody>
      </p:sp>
      <p:sp>
        <p:nvSpPr>
          <p:cNvPr id="11" name="Issue 1 percent"/>
          <p:cNvSpPr txBox="1"/>
          <p:nvPr/>
        </p:nvSpPr>
        <p:spPr>
          <a:xfrm>
            <a:off x="9966960" y="17830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7.1%</a:t>
            </a:r>
            <a:endParaRPr lang="en-US" sz="1800" dirty="0"/>
          </a:p>
        </p:txBody>
      </p:sp>
      <p:sp>
        <p:nvSpPr>
          <p:cNvPr id="12" name="Issue 2 card"/>
          <p:cNvSpPr/>
          <p:nvPr/>
        </p:nvSpPr>
        <p:spPr>
          <a:xfrm>
            <a:off x="640080" y="2441448"/>
            <a:ext cx="10908792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Issue 2 title"/>
          <p:cNvSpPr txBox="1"/>
          <p:nvPr/>
        </p:nvSpPr>
        <p:spPr>
          <a:xfrm>
            <a:off x="914400" y="24414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Txn before merchant onboarding</a:t>
            </a:r>
            <a:endParaRPr lang="en-US" sz="1600" dirty="0"/>
          </a:p>
        </p:txBody>
      </p:sp>
      <p:sp>
        <p:nvSpPr>
          <p:cNvPr id="14" name="Issue 2 where"/>
          <p:cNvSpPr txBox="1"/>
          <p:nvPr/>
        </p:nvSpPr>
        <p:spPr>
          <a:xfrm>
            <a:off x="5212080" y="244144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transactions · timestamp</a:t>
            </a:r>
            <a:endParaRPr lang="en-US" sz="1600" dirty="0"/>
          </a:p>
        </p:txBody>
      </p:sp>
      <p:sp>
        <p:nvSpPr>
          <p:cNvPr id="15" name="Issue 2 rows"/>
          <p:cNvSpPr txBox="1"/>
          <p:nvPr/>
        </p:nvSpPr>
        <p:spPr>
          <a:xfrm>
            <a:off x="8595360" y="244144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3,818</a:t>
            </a:r>
            <a:endParaRPr lang="en-US" sz="1800" dirty="0"/>
          </a:p>
        </p:txBody>
      </p:sp>
      <p:sp>
        <p:nvSpPr>
          <p:cNvPr id="16" name="Issue 2 percent"/>
          <p:cNvSpPr txBox="1"/>
          <p:nvPr/>
        </p:nvSpPr>
        <p:spPr>
          <a:xfrm>
            <a:off x="9966960" y="244144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3.8%</a:t>
            </a:r>
            <a:endParaRPr lang="en-US" sz="1800" dirty="0"/>
          </a:p>
        </p:txBody>
      </p:sp>
      <p:sp>
        <p:nvSpPr>
          <p:cNvPr id="17" name="Issue 3 card"/>
          <p:cNvSpPr/>
          <p:nvPr/>
        </p:nvSpPr>
        <p:spPr>
          <a:xfrm>
            <a:off x="640080" y="3099816"/>
            <a:ext cx="10908792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Issue 3 title"/>
          <p:cNvSpPr txBox="1"/>
          <p:nvPr/>
        </p:nvSpPr>
        <p:spPr>
          <a:xfrm>
            <a:off x="914400" y="309981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Invalid mobile pattern (not 6-9)</a:t>
            </a:r>
            <a:endParaRPr lang="en-US" sz="1600" dirty="0"/>
          </a:p>
        </p:txBody>
      </p:sp>
      <p:sp>
        <p:nvSpPr>
          <p:cNvPr id="19" name="Issue 3 where"/>
          <p:cNvSpPr txBox="1"/>
          <p:nvPr/>
        </p:nvSpPr>
        <p:spPr>
          <a:xfrm>
            <a:off x="5212080" y="309981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customer_master · mobile_number</a:t>
            </a:r>
            <a:endParaRPr lang="en-US" sz="1600" dirty="0"/>
          </a:p>
        </p:txBody>
      </p:sp>
      <p:sp>
        <p:nvSpPr>
          <p:cNvPr id="20" name="Issue 3 rows"/>
          <p:cNvSpPr txBox="1"/>
          <p:nvPr/>
        </p:nvSpPr>
        <p:spPr>
          <a:xfrm>
            <a:off x="8595360" y="309981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6,006</a:t>
            </a:r>
            <a:endParaRPr lang="en-US" sz="1800" dirty="0"/>
          </a:p>
        </p:txBody>
      </p:sp>
      <p:sp>
        <p:nvSpPr>
          <p:cNvPr id="21" name="Issue 3 percent"/>
          <p:cNvSpPr txBox="1"/>
          <p:nvPr/>
        </p:nvSpPr>
        <p:spPr>
          <a:xfrm>
            <a:off x="9966960" y="30998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60.1%</a:t>
            </a:r>
            <a:endParaRPr lang="en-US" sz="1800" dirty="0"/>
          </a:p>
        </p:txBody>
      </p:sp>
      <p:sp>
        <p:nvSpPr>
          <p:cNvPr id="22" name="Issue 4 card"/>
          <p:cNvSpPr/>
          <p:nvPr/>
        </p:nvSpPr>
        <p:spPr>
          <a:xfrm>
            <a:off x="640080" y="3758184"/>
            <a:ext cx="10908792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Issue 4 title"/>
          <p:cNvSpPr txBox="1"/>
          <p:nvPr/>
        </p:nvSpPr>
        <p:spPr>
          <a:xfrm>
            <a:off x="914400" y="375818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Txn after device last_active</a:t>
            </a:r>
            <a:endParaRPr lang="en-US" sz="1600" dirty="0"/>
          </a:p>
        </p:txBody>
      </p:sp>
      <p:sp>
        <p:nvSpPr>
          <p:cNvPr id="24" name="Issue 4 where"/>
          <p:cNvSpPr txBox="1"/>
          <p:nvPr/>
        </p:nvSpPr>
        <p:spPr>
          <a:xfrm>
            <a:off x="5212080" y="375818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transactions · device_info</a:t>
            </a:r>
            <a:endParaRPr lang="en-US" sz="1600" dirty="0"/>
          </a:p>
        </p:txBody>
      </p:sp>
      <p:sp>
        <p:nvSpPr>
          <p:cNvPr id="25" name="Issue 4 rows"/>
          <p:cNvSpPr txBox="1"/>
          <p:nvPr/>
        </p:nvSpPr>
        <p:spPr>
          <a:xfrm>
            <a:off x="8595360" y="375818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75,402</a:t>
            </a:r>
            <a:endParaRPr lang="en-US" sz="1800" dirty="0"/>
          </a:p>
        </p:txBody>
      </p:sp>
      <p:sp>
        <p:nvSpPr>
          <p:cNvPr id="26" name="Issue 4 percent"/>
          <p:cNvSpPr txBox="1"/>
          <p:nvPr/>
        </p:nvSpPr>
        <p:spPr>
          <a:xfrm>
            <a:off x="9966960" y="375818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75.4%</a:t>
            </a:r>
            <a:endParaRPr lang="en-US" sz="1800" dirty="0"/>
          </a:p>
        </p:txBody>
      </p:sp>
      <p:sp>
        <p:nvSpPr>
          <p:cNvPr id="27" name="Issue 5 card"/>
          <p:cNvSpPr/>
          <p:nvPr/>
        </p:nvSpPr>
        <p:spPr>
          <a:xfrm>
            <a:off x="640080" y="4416552"/>
            <a:ext cx="10908792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Issue 5 title"/>
          <p:cNvSpPr txBox="1"/>
          <p:nvPr/>
        </p:nvSpPr>
        <p:spPr>
          <a:xfrm>
            <a:off x="914400" y="441655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Amount outliers (above ₹101.89)</a:t>
            </a:r>
            <a:endParaRPr lang="en-US" sz="1600" dirty="0"/>
          </a:p>
        </p:txBody>
      </p:sp>
      <p:sp>
        <p:nvSpPr>
          <p:cNvPr id="29" name="Issue 5 where"/>
          <p:cNvSpPr txBox="1"/>
          <p:nvPr/>
        </p:nvSpPr>
        <p:spPr>
          <a:xfrm>
            <a:off x="5212080" y="44165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transactions · amount</a:t>
            </a:r>
            <a:endParaRPr lang="en-US" sz="1600" dirty="0"/>
          </a:p>
        </p:txBody>
      </p:sp>
      <p:sp>
        <p:nvSpPr>
          <p:cNvPr id="30" name="Issue 5 rows"/>
          <p:cNvSpPr txBox="1"/>
          <p:nvPr/>
        </p:nvSpPr>
        <p:spPr>
          <a:xfrm>
            <a:off x="8595360" y="441655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5,457</a:t>
            </a:r>
            <a:endParaRPr lang="en-US" sz="1800" dirty="0"/>
          </a:p>
        </p:txBody>
      </p:sp>
      <p:sp>
        <p:nvSpPr>
          <p:cNvPr id="31" name="Issue 5 percent"/>
          <p:cNvSpPr txBox="1"/>
          <p:nvPr/>
        </p:nvSpPr>
        <p:spPr>
          <a:xfrm>
            <a:off x="9966960" y="441655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5.5%</a:t>
            </a:r>
            <a:endParaRPr lang="en-US" sz="1800" dirty="0"/>
          </a:p>
        </p:txBody>
      </p:sp>
      <p:sp>
        <p:nvSpPr>
          <p:cNvPr id="32" name="Issue 6 card"/>
          <p:cNvSpPr/>
          <p:nvPr/>
        </p:nvSpPr>
        <p:spPr>
          <a:xfrm>
            <a:off x="640080" y="5074920"/>
            <a:ext cx="10908792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3" name="Issue 6 title"/>
          <p:cNvSpPr txBox="1"/>
          <p:nvPr/>
        </p:nvSpPr>
        <p:spPr>
          <a:xfrm>
            <a:off x="914400" y="507492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Duplicate merchant names</a:t>
            </a:r>
            <a:endParaRPr lang="en-US" sz="1600" dirty="0"/>
          </a:p>
        </p:txBody>
      </p:sp>
      <p:sp>
        <p:nvSpPr>
          <p:cNvPr id="34" name="Issue 6 where"/>
          <p:cNvSpPr txBox="1"/>
          <p:nvPr/>
        </p:nvSpPr>
        <p:spPr>
          <a:xfrm>
            <a:off x="5212080" y="50749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merchant_info · merchant_name</a:t>
            </a:r>
            <a:endParaRPr lang="en-US" sz="1600" dirty="0"/>
          </a:p>
        </p:txBody>
      </p:sp>
      <p:sp>
        <p:nvSpPr>
          <p:cNvPr id="35" name="Issue 6 rows"/>
          <p:cNvSpPr txBox="1"/>
          <p:nvPr/>
        </p:nvSpPr>
        <p:spPr>
          <a:xfrm>
            <a:off x="8595360" y="507492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10</a:t>
            </a:r>
            <a:endParaRPr lang="en-US" sz="1800" dirty="0"/>
          </a:p>
        </p:txBody>
      </p:sp>
      <p:sp>
        <p:nvSpPr>
          <p:cNvPr id="36" name="Issue 6 percent"/>
          <p:cNvSpPr txBox="1"/>
          <p:nvPr/>
        </p:nvSpPr>
        <p:spPr>
          <a:xfrm>
            <a:off x="9966960" y="50749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2.0%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Cleaning actions</a:t>
            </a:r>
            <a:endParaRPr lang="en-US" sz="3600" dirty="0"/>
          </a:p>
        </p:txBody>
      </p:sp>
      <p:sp>
        <p:nvSpPr>
          <p:cNvPr id="3" name="Action 1 card"/>
          <p:cNvSpPr/>
          <p:nvPr/>
        </p:nvSpPr>
        <p:spPr>
          <a:xfrm>
            <a:off x="640080" y="1645920"/>
            <a:ext cx="3453689" cy="3931920"/>
          </a:xfrm>
          <a:prstGeom prst="roundRect">
            <a:avLst>
              <a:gd name="adj" fmla="val 3177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Action 1 circle"/>
          <p:cNvSpPr/>
          <p:nvPr/>
        </p:nvSpPr>
        <p:spPr>
          <a:xfrm>
            <a:off x="914400" y="19202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Action 1 label"/>
          <p:cNvSpPr txBox="1"/>
          <p:nvPr/>
        </p:nvSpPr>
        <p:spPr>
          <a:xfrm>
            <a:off x="9144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Action 1 title"/>
          <p:cNvSpPr txBox="1"/>
          <p:nvPr/>
        </p:nvSpPr>
        <p:spPr>
          <a:xfrm>
            <a:off x="914400" y="2651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Keep and flag</a:t>
            </a:r>
            <a:endParaRPr lang="en-US" sz="2400" dirty="0"/>
          </a:p>
        </p:txBody>
      </p:sp>
      <p:sp>
        <p:nvSpPr>
          <p:cNvPr id="7" name="Action 1 text"/>
          <p:cNvSpPr txBox="1"/>
          <p:nvPr/>
        </p:nvSpPr>
        <p:spPr>
          <a:xfrm>
            <a:off x="914400" y="329184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Amount outliers and expected blanks (merchant_id, failure_reason, resolution_date) stay in the data</a:t>
            </a:r>
            <a:endParaRPr lang="en-US" sz="1700" dirty="0"/>
          </a:p>
        </p:txBody>
      </p:sp>
      <p:sp>
        <p:nvSpPr>
          <p:cNvPr id="8" name="Action 1 tag"/>
          <p:cNvSpPr txBox="1"/>
          <p:nvPr/>
        </p:nvSpPr>
        <p:spPr>
          <a:xfrm>
            <a:off x="914400" y="5029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Nothing is deleted</a:t>
            </a:r>
            <a:endParaRPr lang="en-US" sz="1200" dirty="0"/>
          </a:p>
        </p:txBody>
      </p:sp>
      <p:sp>
        <p:nvSpPr>
          <p:cNvPr id="9" name="Action 2 card"/>
          <p:cNvSpPr/>
          <p:nvPr/>
        </p:nvSpPr>
        <p:spPr>
          <a:xfrm>
            <a:off x="4368089" y="1645920"/>
            <a:ext cx="3453689" cy="3931920"/>
          </a:xfrm>
          <a:prstGeom prst="roundRect">
            <a:avLst>
              <a:gd name="adj" fmla="val 3177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Action 2 circle"/>
          <p:cNvSpPr/>
          <p:nvPr/>
        </p:nvSpPr>
        <p:spPr>
          <a:xfrm>
            <a:off x="4642409" y="19202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Action 2 label"/>
          <p:cNvSpPr txBox="1"/>
          <p:nvPr/>
        </p:nvSpPr>
        <p:spPr>
          <a:xfrm>
            <a:off x="4642409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Action 2 title"/>
          <p:cNvSpPr txBox="1"/>
          <p:nvPr/>
        </p:nvSpPr>
        <p:spPr>
          <a:xfrm>
            <a:off x="4642409" y="2651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Investigate</a:t>
            </a:r>
            <a:endParaRPr lang="en-US" sz="2400" dirty="0"/>
          </a:p>
        </p:txBody>
      </p:sp>
      <p:sp>
        <p:nvSpPr>
          <p:cNvPr id="13" name="Action 2 text"/>
          <p:cNvSpPr txBox="1"/>
          <p:nvPr/>
        </p:nvSpPr>
        <p:spPr>
          <a:xfrm>
            <a:off x="4642409" y="329184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Blocked/suspended UPI transactions and pre-onboarding transactions go to the source team</a:t>
            </a:r>
            <a:endParaRPr lang="en-US" sz="1700" dirty="0"/>
          </a:p>
        </p:txBody>
      </p:sp>
      <p:sp>
        <p:nvSpPr>
          <p:cNvPr id="14" name="Action 2 tag"/>
          <p:cNvSpPr txBox="1"/>
          <p:nvPr/>
        </p:nvSpPr>
        <p:spPr>
          <a:xfrm>
            <a:off x="4642409" y="5029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Control gap · onboarding dates</a:t>
            </a:r>
            <a:endParaRPr lang="en-US" sz="1200" dirty="0"/>
          </a:p>
        </p:txBody>
      </p:sp>
      <p:sp>
        <p:nvSpPr>
          <p:cNvPr id="15" name="Action 3 card"/>
          <p:cNvSpPr/>
          <p:nvPr/>
        </p:nvSpPr>
        <p:spPr>
          <a:xfrm>
            <a:off x="8096098" y="1645920"/>
            <a:ext cx="3453689" cy="3931920"/>
          </a:xfrm>
          <a:prstGeom prst="roundRect">
            <a:avLst>
              <a:gd name="adj" fmla="val 3177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Action 3 circle"/>
          <p:cNvSpPr/>
          <p:nvPr/>
        </p:nvSpPr>
        <p:spPr>
          <a:xfrm>
            <a:off x="8370418" y="19202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Action 3 label"/>
          <p:cNvSpPr txBox="1"/>
          <p:nvPr/>
        </p:nvSpPr>
        <p:spPr>
          <a:xfrm>
            <a:off x="837041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Action 3 title"/>
          <p:cNvSpPr txBox="1"/>
          <p:nvPr/>
        </p:nvSpPr>
        <p:spPr>
          <a:xfrm>
            <a:off x="8370418" y="2651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Do not rely on</a:t>
            </a:r>
            <a:endParaRPr lang="en-US" sz="2400" dirty="0"/>
          </a:p>
        </p:txBody>
      </p:sp>
      <p:sp>
        <p:nvSpPr>
          <p:cNvPr id="19" name="Action 3 text"/>
          <p:cNvSpPr txBox="1"/>
          <p:nvPr/>
        </p:nvSpPr>
        <p:spPr>
          <a:xfrm>
            <a:off x="8370418" y="329184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last_active and mobile_number are unreliable, so activity is measured from transactions</a:t>
            </a:r>
            <a:endParaRPr lang="en-US" sz="1700" dirty="0"/>
          </a:p>
        </p:txBody>
      </p:sp>
      <p:sp>
        <p:nvSpPr>
          <p:cNvPr id="20" name="Action 3 tag"/>
          <p:cNvSpPr txBox="1"/>
          <p:nvPr/>
        </p:nvSpPr>
        <p:spPr>
          <a:xfrm>
            <a:off x="8370418" y="5029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Columns to avoid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4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PI Capstone">
  <a:themeElements>
    <a:clrScheme name="UPI Capstone">
      <a:dk1>
        <a:srgbClr val="12202B"/>
      </a:dk1>
      <a:lt1>
        <a:srgbClr val="F4F6F6"/>
      </a:lt1>
      <a:dk2>
        <a:srgbClr val="1C2F3D"/>
      </a:dk2>
      <a:lt2>
        <a:srgbClr val="FFFFFF"/>
      </a:lt2>
      <a:accent1>
        <a:srgbClr val="0B6E70"/>
      </a:accent1>
      <a:accent2>
        <a:srgbClr val="E8833A"/>
      </a:accent2>
      <a:accent3>
        <a:srgbClr val="3D4A55"/>
      </a:accent3>
      <a:accent4>
        <a:srgbClr val="5B6670"/>
      </a:accent4>
      <a:accent5>
        <a:srgbClr val="B9C4CC"/>
      </a:accent5>
      <a:accent6>
        <a:srgbClr val="DDE3E3"/>
      </a:accent6>
      <a:hlink>
        <a:srgbClr val="0B6E70"/>
      </a:hlink>
      <a:folHlink>
        <a:srgbClr val="5B6670"/>
      </a:folHlink>
    </a:clrScheme>
    <a:fontScheme name="UPI Capston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UPI Analytics Capstone - Step 2: Data Validation Using Excel</dc:title>
  <dc:subject>PptxGenJS Presentation</dc:subject>
  <dc:creator>PptxGenJS</dc:creator>
  <cp:lastModifiedBy>PptxGenJS</cp:lastModifiedBy>
  <cp:revision>1</cp:revision>
  <dcterms:created xsi:type="dcterms:W3CDTF">2026-10-10T07:10:45Z</dcterms:created>
  <dcterms:modified xsi:type="dcterms:W3CDTF">2026-10-10T07:10:45Z</dcterms:modified>
</cp:coreProperties>
</file>