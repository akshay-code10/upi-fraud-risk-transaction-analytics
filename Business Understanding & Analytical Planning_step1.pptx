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ntext" id="{eb8608ff-a7c3-17c9-5c32-a3525bb2abee}">
          <p14:sldIdLst>
            <p14:sldId id="256"/>
            <p14:sldId id="257"/>
            <p14:sldId id="258"/>
          </p14:sldIdLst>
        </p14:section>
        <p14:section name="Metrics" id="{5d89f901-0e79-64fa-c3a8-93a47784c4ce}">
          <p14:sldIdLst>
            <p14:sldId id="259"/>
            <p14:sldId id="260"/>
          </p14:sldIdLst>
        </p14:section>
        <p14:section name="Approach" id="{50a049e7-ef53-d465-8404-03040b81050f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331720"/>
            <a:ext cx="105156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6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9C4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6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 circle large"/>
          <p:cNvSpPr/>
          <p:nvPr/>
        </p:nvSpPr>
        <p:spPr>
          <a:xfrm>
            <a:off x="8869680" y="4297680"/>
            <a:ext cx="4023360" cy="4023360"/>
          </a:xfrm>
          <a:prstGeom prst="ellipse">
            <a:avLst/>
          </a:prstGeom>
          <a:solidFill>
            <a:schemeClr val="accent1">
              <a:alpha val="45000"/>
            </a:schemeClr>
          </a:solidFill>
          <a:ln/>
        </p:spPr>
      </p:sp>
      <p:sp>
        <p:nvSpPr>
          <p:cNvPr id="3" name="Decor circle small"/>
          <p:cNvSpPr/>
          <p:nvPr/>
        </p:nvSpPr>
        <p:spPr>
          <a:xfrm>
            <a:off x="8138160" y="5486400"/>
            <a:ext cx="1097280" cy="1097280"/>
          </a:xfrm>
          <a:prstGeom prst="ellipse">
            <a:avLst/>
          </a:prstGeom>
          <a:solidFill>
            <a:schemeClr val="accent2">
              <a:alpha val="85000"/>
            </a:schemeClr>
          </a:solidFill>
          <a:ln/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822960" y="233172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UPI Transaction Analytics</a:t>
            </a:r>
            <a:endParaRPr lang="en-US" sz="5400" dirty="0"/>
          </a:p>
        </p:txBody>
      </p:sp>
      <p:sp>
        <p:nvSpPr>
          <p:cNvPr id="5" name="Subtitle"/>
          <p:cNvSpPr txBox="1"/>
          <p:nvPr/>
        </p:nvSpPr>
        <p:spPr>
          <a:xfrm>
            <a:off x="822960" y="3749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accent5"/>
                </a:solidFill>
              </a:rPr>
              <a:t>Step 1: Business Understanding &amp; Analytical Plan</a:t>
            </a:r>
            <a:endParaRPr lang="en-US" sz="2400" dirty="0"/>
          </a:p>
        </p:txBody>
      </p:sp>
      <p:sp>
        <p:nvSpPr>
          <p:cNvPr id="6" name="Author"/>
          <p:cNvSpPr txBox="1"/>
          <p:nvPr/>
        </p:nvSpPr>
        <p:spPr>
          <a:xfrm>
            <a:off x="822960" y="45720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Akshay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Core business challenges</a:t>
            </a:r>
            <a:endParaRPr lang="en-US" sz="3600" dirty="0"/>
          </a:p>
        </p:txBody>
      </p:sp>
      <p:sp>
        <p:nvSpPr>
          <p:cNvPr id="3" name="Challenge 1 card"/>
          <p:cNvSpPr/>
          <p:nvPr/>
        </p:nvSpPr>
        <p:spPr>
          <a:xfrm>
            <a:off x="640080" y="1554480"/>
            <a:ext cx="10908792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Challenge 1 circle"/>
          <p:cNvSpPr/>
          <p:nvPr/>
        </p:nvSpPr>
        <p:spPr>
          <a:xfrm>
            <a:off x="914400" y="170078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Challenge 1 label"/>
          <p:cNvSpPr txBox="1"/>
          <p:nvPr/>
        </p:nvSpPr>
        <p:spPr>
          <a:xfrm>
            <a:off x="914400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Challenge 1 title"/>
          <p:cNvSpPr txBox="1"/>
          <p:nvPr/>
        </p:nvSpPr>
        <p:spPr>
          <a:xfrm>
            <a:off x="1645920" y="1554480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Fraud risk</a:t>
            </a:r>
            <a:endParaRPr lang="en-US" sz="2000" dirty="0"/>
          </a:p>
        </p:txBody>
      </p:sp>
      <p:sp>
        <p:nvSpPr>
          <p:cNvPr id="7" name="Challenge 1 text"/>
          <p:cNvSpPr txBox="1"/>
          <p:nvPr/>
        </p:nvSpPr>
        <p:spPr>
          <a:xfrm>
            <a:off x="4937760" y="1554480"/>
            <a:ext cx="6400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Fraudulent payments cause financial loss and reduce user trust</a:t>
            </a:r>
            <a:endParaRPr lang="en-US" sz="1800" dirty="0"/>
          </a:p>
        </p:txBody>
      </p:sp>
      <p:sp>
        <p:nvSpPr>
          <p:cNvPr id="8" name="Challenge 2 card"/>
          <p:cNvSpPr/>
          <p:nvPr/>
        </p:nvSpPr>
        <p:spPr>
          <a:xfrm>
            <a:off x="640080" y="2441448"/>
            <a:ext cx="10908792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Challenge 2 circle"/>
          <p:cNvSpPr/>
          <p:nvPr/>
        </p:nvSpPr>
        <p:spPr>
          <a:xfrm>
            <a:off x="914400" y="258775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Challenge 2 label"/>
          <p:cNvSpPr txBox="1"/>
          <p:nvPr/>
        </p:nvSpPr>
        <p:spPr>
          <a:xfrm>
            <a:off x="914400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Challenge 2 title"/>
          <p:cNvSpPr txBox="1"/>
          <p:nvPr/>
        </p:nvSpPr>
        <p:spPr>
          <a:xfrm>
            <a:off x="1645920" y="2441448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Failed transactions</a:t>
            </a:r>
            <a:endParaRPr lang="en-US" sz="2000" dirty="0"/>
          </a:p>
        </p:txBody>
      </p:sp>
      <p:sp>
        <p:nvSpPr>
          <p:cNvPr id="12" name="Challenge 2 text"/>
          <p:cNvSpPr txBox="1"/>
          <p:nvPr/>
        </p:nvSpPr>
        <p:spPr>
          <a:xfrm>
            <a:off x="4937760" y="2441448"/>
            <a:ext cx="6400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PIN errors, network issues and bank downtime frustrate users</a:t>
            </a:r>
            <a:endParaRPr lang="en-US" sz="1800" dirty="0"/>
          </a:p>
        </p:txBody>
      </p:sp>
      <p:sp>
        <p:nvSpPr>
          <p:cNvPr id="13" name="Challenge 3 card"/>
          <p:cNvSpPr/>
          <p:nvPr/>
        </p:nvSpPr>
        <p:spPr>
          <a:xfrm>
            <a:off x="640080" y="3328416"/>
            <a:ext cx="10908792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Challenge 3 circle"/>
          <p:cNvSpPr/>
          <p:nvPr/>
        </p:nvSpPr>
        <p:spPr>
          <a:xfrm>
            <a:off x="914400" y="34747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Challenge 3 label"/>
          <p:cNvSpPr txBox="1"/>
          <p:nvPr/>
        </p:nvSpPr>
        <p:spPr>
          <a:xfrm>
            <a:off x="91440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Challenge 3 title"/>
          <p:cNvSpPr txBox="1"/>
          <p:nvPr/>
        </p:nvSpPr>
        <p:spPr>
          <a:xfrm>
            <a:off x="1645920" y="3328416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Customer churn</a:t>
            </a:r>
            <a:endParaRPr lang="en-US" sz="2000" dirty="0"/>
          </a:p>
        </p:txBody>
      </p:sp>
      <p:sp>
        <p:nvSpPr>
          <p:cNvPr id="17" name="Challenge 3 text"/>
          <p:cNvSpPr txBox="1"/>
          <p:nvPr/>
        </p:nvSpPr>
        <p:spPr>
          <a:xfrm>
            <a:off x="4937760" y="3328416"/>
            <a:ext cx="6400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Dissatisfied or inactive users move to competing apps</a:t>
            </a:r>
            <a:endParaRPr lang="en-US" sz="1800" dirty="0"/>
          </a:p>
        </p:txBody>
      </p:sp>
      <p:sp>
        <p:nvSpPr>
          <p:cNvPr id="18" name="Challenge 4 card"/>
          <p:cNvSpPr/>
          <p:nvPr/>
        </p:nvSpPr>
        <p:spPr>
          <a:xfrm>
            <a:off x="640080" y="4215384"/>
            <a:ext cx="10908792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Challenge 4 circle"/>
          <p:cNvSpPr/>
          <p:nvPr/>
        </p:nvSpPr>
        <p:spPr>
          <a:xfrm>
            <a:off x="914400" y="436168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Challenge 4 label"/>
          <p:cNvSpPr txBox="1"/>
          <p:nvPr/>
        </p:nvSpPr>
        <p:spPr>
          <a:xfrm>
            <a:off x="914400" y="4361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Challenge 4 title"/>
          <p:cNvSpPr txBox="1"/>
          <p:nvPr/>
        </p:nvSpPr>
        <p:spPr>
          <a:xfrm>
            <a:off x="1645920" y="4215384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Merchant engagement</a:t>
            </a:r>
            <a:endParaRPr lang="en-US" sz="2000" dirty="0"/>
          </a:p>
        </p:txBody>
      </p:sp>
      <p:sp>
        <p:nvSpPr>
          <p:cNvPr id="22" name="Challenge 4 text"/>
          <p:cNvSpPr txBox="1"/>
          <p:nvPr/>
        </p:nvSpPr>
        <p:spPr>
          <a:xfrm>
            <a:off x="4937760" y="4215384"/>
            <a:ext cx="6400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Inactive or high-risk merchants limit growth and add exposure</a:t>
            </a:r>
            <a:endParaRPr lang="en-US" sz="1800" dirty="0"/>
          </a:p>
        </p:txBody>
      </p:sp>
      <p:sp>
        <p:nvSpPr>
          <p:cNvPr id="23" name="Challenge 5 card"/>
          <p:cNvSpPr/>
          <p:nvPr/>
        </p:nvSpPr>
        <p:spPr>
          <a:xfrm>
            <a:off x="640080" y="5102352"/>
            <a:ext cx="10908792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4" name="Challenge 5 circle"/>
          <p:cNvSpPr/>
          <p:nvPr/>
        </p:nvSpPr>
        <p:spPr>
          <a:xfrm>
            <a:off x="914400" y="524865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Challenge 5 label"/>
          <p:cNvSpPr txBox="1"/>
          <p:nvPr/>
        </p:nvSpPr>
        <p:spPr>
          <a:xfrm>
            <a:off x="914400" y="5248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Challenge 5 title"/>
          <p:cNvSpPr txBox="1"/>
          <p:nvPr/>
        </p:nvSpPr>
        <p:spPr>
          <a:xfrm>
            <a:off x="1645920" y="5102352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Compliance</a:t>
            </a:r>
            <a:endParaRPr lang="en-US" sz="2000" dirty="0"/>
          </a:p>
        </p:txBody>
      </p:sp>
      <p:sp>
        <p:nvSpPr>
          <p:cNvPr id="27" name="Challenge 5 text"/>
          <p:cNvSpPr txBox="1"/>
          <p:nvPr/>
        </p:nvSpPr>
        <p:spPr>
          <a:xfrm>
            <a:off x="4937760" y="5102352"/>
            <a:ext cx="6400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Risk controls and alert handling must meet regulatory needs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6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Analytical goals</a:t>
            </a:r>
            <a:endParaRPr lang="en-US" sz="3600" dirty="0"/>
          </a:p>
        </p:txBody>
      </p:sp>
      <p:sp>
        <p:nvSpPr>
          <p:cNvPr id="3" name="Goal 1 card"/>
          <p:cNvSpPr/>
          <p:nvPr/>
        </p:nvSpPr>
        <p:spPr>
          <a:xfrm>
            <a:off x="640080" y="1554480"/>
            <a:ext cx="3453689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Goal 1 circle"/>
          <p:cNvSpPr/>
          <p:nvPr/>
        </p:nvSpPr>
        <p:spPr>
          <a:xfrm>
            <a:off x="914400" y="1783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Goal 1 label"/>
          <p:cNvSpPr txBox="1"/>
          <p:nvPr/>
        </p:nvSpPr>
        <p:spPr>
          <a:xfrm>
            <a:off x="91440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Goal 1 title"/>
          <p:cNvSpPr txBox="1"/>
          <p:nvPr/>
        </p:nvSpPr>
        <p:spPr>
          <a:xfrm>
            <a:off x="914400" y="2377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Understand</a:t>
            </a:r>
            <a:endParaRPr lang="en-US" sz="2200" dirty="0"/>
          </a:p>
        </p:txBody>
      </p:sp>
      <p:sp>
        <p:nvSpPr>
          <p:cNvPr id="7" name="Goal 1 text"/>
          <p:cNvSpPr txBox="1"/>
          <p:nvPr/>
        </p:nvSpPr>
        <p:spPr>
          <a:xfrm>
            <a:off x="914400" y="28346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Study customer, merchant and device behavior and payment trends</a:t>
            </a:r>
            <a:endParaRPr lang="en-US" sz="1600" dirty="0"/>
          </a:p>
        </p:txBody>
      </p:sp>
      <p:sp>
        <p:nvSpPr>
          <p:cNvPr id="8" name="Goal 2 card"/>
          <p:cNvSpPr/>
          <p:nvPr/>
        </p:nvSpPr>
        <p:spPr>
          <a:xfrm>
            <a:off x="4368089" y="1554480"/>
            <a:ext cx="3453689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Goal 2 circle"/>
          <p:cNvSpPr/>
          <p:nvPr/>
        </p:nvSpPr>
        <p:spPr>
          <a:xfrm>
            <a:off x="4642409" y="1783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Goal 2 label"/>
          <p:cNvSpPr txBox="1"/>
          <p:nvPr/>
        </p:nvSpPr>
        <p:spPr>
          <a:xfrm>
            <a:off x="4642409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Goal 2 title"/>
          <p:cNvSpPr txBox="1"/>
          <p:nvPr/>
        </p:nvSpPr>
        <p:spPr>
          <a:xfrm>
            <a:off x="4642409" y="2377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Detect</a:t>
            </a:r>
            <a:endParaRPr lang="en-US" sz="2200" dirty="0"/>
          </a:p>
        </p:txBody>
      </p:sp>
      <p:sp>
        <p:nvSpPr>
          <p:cNvPr id="12" name="Goal 2 text"/>
          <p:cNvSpPr txBox="1"/>
          <p:nvPr/>
        </p:nvSpPr>
        <p:spPr>
          <a:xfrm>
            <a:off x="4642409" y="28346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Find the segments, devices and merchants with the highest fraud risk</a:t>
            </a:r>
            <a:endParaRPr lang="en-US" sz="1600" dirty="0"/>
          </a:p>
        </p:txBody>
      </p:sp>
      <p:sp>
        <p:nvSpPr>
          <p:cNvPr id="13" name="Goal 3 card"/>
          <p:cNvSpPr/>
          <p:nvPr/>
        </p:nvSpPr>
        <p:spPr>
          <a:xfrm>
            <a:off x="8096098" y="1554480"/>
            <a:ext cx="3453689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Goal 3 circle"/>
          <p:cNvSpPr/>
          <p:nvPr/>
        </p:nvSpPr>
        <p:spPr>
          <a:xfrm>
            <a:off x="8370418" y="1783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Goal 3 label"/>
          <p:cNvSpPr txBox="1"/>
          <p:nvPr/>
        </p:nvSpPr>
        <p:spPr>
          <a:xfrm>
            <a:off x="8370418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Goal 3 title"/>
          <p:cNvSpPr txBox="1"/>
          <p:nvPr/>
        </p:nvSpPr>
        <p:spPr>
          <a:xfrm>
            <a:off x="8370418" y="2377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Diagnose</a:t>
            </a:r>
            <a:endParaRPr lang="en-US" sz="2200" dirty="0"/>
          </a:p>
        </p:txBody>
      </p:sp>
      <p:sp>
        <p:nvSpPr>
          <p:cNvPr id="17" name="Goal 3 text"/>
          <p:cNvSpPr txBox="1"/>
          <p:nvPr/>
        </p:nvSpPr>
        <p:spPr>
          <a:xfrm>
            <a:off x="8370418" y="28346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Locate bottlenecks and root causes behind failed transactions</a:t>
            </a:r>
            <a:endParaRPr lang="en-US" sz="1600" dirty="0"/>
          </a:p>
        </p:txBody>
      </p:sp>
      <p:sp>
        <p:nvSpPr>
          <p:cNvPr id="18" name="Goal 4 card"/>
          <p:cNvSpPr/>
          <p:nvPr/>
        </p:nvSpPr>
        <p:spPr>
          <a:xfrm>
            <a:off x="640080" y="4023360"/>
            <a:ext cx="3453689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Goal 4 circle"/>
          <p:cNvSpPr/>
          <p:nvPr/>
        </p:nvSpPr>
        <p:spPr>
          <a:xfrm>
            <a:off x="914400" y="42519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Goal 4 label"/>
          <p:cNvSpPr txBox="1"/>
          <p:nvPr/>
        </p:nvSpPr>
        <p:spPr>
          <a:xfrm>
            <a:off x="91440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Goal 4 title"/>
          <p:cNvSpPr txBox="1"/>
          <p:nvPr/>
        </p:nvSpPr>
        <p:spPr>
          <a:xfrm>
            <a:off x="914400" y="4846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Evaluate</a:t>
            </a:r>
            <a:endParaRPr lang="en-US" sz="2200" dirty="0"/>
          </a:p>
        </p:txBody>
      </p:sp>
      <p:sp>
        <p:nvSpPr>
          <p:cNvPr id="22" name="Goal 4 text"/>
          <p:cNvSpPr txBox="1"/>
          <p:nvPr/>
        </p:nvSpPr>
        <p:spPr>
          <a:xfrm>
            <a:off x="914400" y="53035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Judge how well fraud alerts and risk controls are working</a:t>
            </a:r>
            <a:endParaRPr lang="en-US" sz="1600" dirty="0"/>
          </a:p>
        </p:txBody>
      </p:sp>
      <p:sp>
        <p:nvSpPr>
          <p:cNvPr id="23" name="Goal 5 card"/>
          <p:cNvSpPr/>
          <p:nvPr/>
        </p:nvSpPr>
        <p:spPr>
          <a:xfrm>
            <a:off x="4368089" y="4023360"/>
            <a:ext cx="3453689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4" name="Goal 5 circle"/>
          <p:cNvSpPr/>
          <p:nvPr/>
        </p:nvSpPr>
        <p:spPr>
          <a:xfrm>
            <a:off x="4642409" y="42519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Goal 5 label"/>
          <p:cNvSpPr txBox="1"/>
          <p:nvPr/>
        </p:nvSpPr>
        <p:spPr>
          <a:xfrm>
            <a:off x="4642409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Goal 5 title"/>
          <p:cNvSpPr txBox="1"/>
          <p:nvPr/>
        </p:nvSpPr>
        <p:spPr>
          <a:xfrm>
            <a:off x="4642409" y="4846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Monitor</a:t>
            </a:r>
            <a:endParaRPr lang="en-US" sz="2200" dirty="0"/>
          </a:p>
        </p:txBody>
      </p:sp>
      <p:sp>
        <p:nvSpPr>
          <p:cNvPr id="27" name="Goal 5 text"/>
          <p:cNvSpPr txBox="1"/>
          <p:nvPr/>
        </p:nvSpPr>
        <p:spPr>
          <a:xfrm>
            <a:off x="4642409" y="53035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Build interactive dashboards for executives and analysts</a:t>
            </a:r>
            <a:endParaRPr lang="en-US" sz="1600" dirty="0"/>
          </a:p>
        </p:txBody>
      </p:sp>
      <p:sp>
        <p:nvSpPr>
          <p:cNvPr id="28" name="Goal 6 card"/>
          <p:cNvSpPr/>
          <p:nvPr/>
        </p:nvSpPr>
        <p:spPr>
          <a:xfrm>
            <a:off x="8096098" y="4023360"/>
            <a:ext cx="3453689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9" name="Goal 6 circle"/>
          <p:cNvSpPr/>
          <p:nvPr/>
        </p:nvSpPr>
        <p:spPr>
          <a:xfrm>
            <a:off x="8370418" y="42519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Goal 6 label"/>
          <p:cNvSpPr txBox="1"/>
          <p:nvPr/>
        </p:nvSpPr>
        <p:spPr>
          <a:xfrm>
            <a:off x="8370418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Goal 6 title"/>
          <p:cNvSpPr txBox="1"/>
          <p:nvPr/>
        </p:nvSpPr>
        <p:spPr>
          <a:xfrm>
            <a:off x="8370418" y="4846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Recommend</a:t>
            </a:r>
            <a:endParaRPr lang="en-US" sz="2200" dirty="0"/>
          </a:p>
        </p:txBody>
      </p:sp>
      <p:sp>
        <p:nvSpPr>
          <p:cNvPr id="32" name="Goal 6 text"/>
          <p:cNvSpPr txBox="1"/>
          <p:nvPr/>
        </p:nvSpPr>
        <p:spPr>
          <a:xfrm>
            <a:off x="8370418" y="53035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Turn findings into prioritized actions to improve platform trust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6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Key performance indicators</a:t>
            </a:r>
            <a:endParaRPr lang="en-US" sz="3600" dirty="0"/>
          </a:p>
        </p:txBody>
      </p:sp>
      <p:sp>
        <p:nvSpPr>
          <p:cNvPr id="3" name="KPI 1 card"/>
          <p:cNvSpPr/>
          <p:nvPr/>
        </p:nvSpPr>
        <p:spPr>
          <a:xfrm>
            <a:off x="640080" y="1508760"/>
            <a:ext cx="10908792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KPI 1 circle"/>
          <p:cNvSpPr/>
          <p:nvPr/>
        </p:nvSpPr>
        <p:spPr>
          <a:xfrm>
            <a:off x="914400" y="160934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KPI 1 label"/>
          <p:cNvSpPr txBox="1"/>
          <p:nvPr/>
        </p:nvSpPr>
        <p:spPr>
          <a:xfrm>
            <a:off x="914400" y="1609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KPI 1 title"/>
          <p:cNvSpPr txBox="1"/>
          <p:nvPr/>
        </p:nvSpPr>
        <p:spPr>
          <a:xfrm>
            <a:off x="1554480" y="1508760"/>
            <a:ext cx="3200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Transaction Volume</a:t>
            </a:r>
            <a:endParaRPr lang="en-US" sz="1800" dirty="0"/>
          </a:p>
        </p:txBody>
      </p:sp>
      <p:sp>
        <p:nvSpPr>
          <p:cNvPr id="7" name="KPI 1 text"/>
          <p:cNvSpPr txBox="1"/>
          <p:nvPr/>
        </p:nvSpPr>
        <p:spPr>
          <a:xfrm>
            <a:off x="4846320" y="1508760"/>
            <a:ext cx="6492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Number and total ₹ value of transactions over time</a:t>
            </a:r>
            <a:endParaRPr lang="en-US" sz="1600" dirty="0"/>
          </a:p>
        </p:txBody>
      </p:sp>
      <p:sp>
        <p:nvSpPr>
          <p:cNvPr id="8" name="KPI 2 card"/>
          <p:cNvSpPr/>
          <p:nvPr/>
        </p:nvSpPr>
        <p:spPr>
          <a:xfrm>
            <a:off x="640080" y="2185416"/>
            <a:ext cx="10908792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KPI 2 circle"/>
          <p:cNvSpPr/>
          <p:nvPr/>
        </p:nvSpPr>
        <p:spPr>
          <a:xfrm>
            <a:off x="914400" y="22860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KPI 2 label"/>
          <p:cNvSpPr txBox="1"/>
          <p:nvPr/>
        </p:nvSpPr>
        <p:spPr>
          <a:xfrm>
            <a:off x="914400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KPI 2 title"/>
          <p:cNvSpPr txBox="1"/>
          <p:nvPr/>
        </p:nvSpPr>
        <p:spPr>
          <a:xfrm>
            <a:off x="1554480" y="2185416"/>
            <a:ext cx="3200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Failure Rate</a:t>
            </a:r>
            <a:endParaRPr lang="en-US" sz="1800" dirty="0"/>
          </a:p>
        </p:txBody>
      </p:sp>
      <p:sp>
        <p:nvSpPr>
          <p:cNvPr id="12" name="KPI 2 text"/>
          <p:cNvSpPr txBox="1"/>
          <p:nvPr/>
        </p:nvSpPr>
        <p:spPr>
          <a:xfrm>
            <a:off x="4846320" y="2185416"/>
            <a:ext cx="6492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Failed transactions ÷ total transactions</a:t>
            </a:r>
            <a:endParaRPr lang="en-US" sz="1600" dirty="0"/>
          </a:p>
        </p:txBody>
      </p:sp>
      <p:sp>
        <p:nvSpPr>
          <p:cNvPr id="13" name="KPI 3 card"/>
          <p:cNvSpPr/>
          <p:nvPr/>
        </p:nvSpPr>
        <p:spPr>
          <a:xfrm>
            <a:off x="640080" y="2862072"/>
            <a:ext cx="10908792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KPI 3 circle"/>
          <p:cNvSpPr/>
          <p:nvPr/>
        </p:nvSpPr>
        <p:spPr>
          <a:xfrm>
            <a:off x="914400" y="296265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KPI 3 label"/>
          <p:cNvSpPr txBox="1"/>
          <p:nvPr/>
        </p:nvSpPr>
        <p:spPr>
          <a:xfrm>
            <a:off x="914400" y="2962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KPI 3 title"/>
          <p:cNvSpPr txBox="1"/>
          <p:nvPr/>
        </p:nvSpPr>
        <p:spPr>
          <a:xfrm>
            <a:off x="1554480" y="2862072"/>
            <a:ext cx="3200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Fraud Rate</a:t>
            </a:r>
            <a:endParaRPr lang="en-US" sz="1800" dirty="0"/>
          </a:p>
        </p:txBody>
      </p:sp>
      <p:sp>
        <p:nvSpPr>
          <p:cNvPr id="17" name="KPI 3 text"/>
          <p:cNvSpPr txBox="1"/>
          <p:nvPr/>
        </p:nvSpPr>
        <p:spPr>
          <a:xfrm>
            <a:off x="4846320" y="2862072"/>
            <a:ext cx="6492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Fraud-flagged transactions ÷ total transactions</a:t>
            </a:r>
            <a:endParaRPr lang="en-US" sz="1600" dirty="0"/>
          </a:p>
        </p:txBody>
      </p:sp>
      <p:sp>
        <p:nvSpPr>
          <p:cNvPr id="18" name="KPI 4 card"/>
          <p:cNvSpPr/>
          <p:nvPr/>
        </p:nvSpPr>
        <p:spPr>
          <a:xfrm>
            <a:off x="640080" y="3538728"/>
            <a:ext cx="10908792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KPI 4 circle"/>
          <p:cNvSpPr/>
          <p:nvPr/>
        </p:nvSpPr>
        <p:spPr>
          <a:xfrm>
            <a:off x="914400" y="363931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KPI 4 label"/>
          <p:cNvSpPr txBox="1"/>
          <p:nvPr/>
        </p:nvSpPr>
        <p:spPr>
          <a:xfrm>
            <a:off x="914400" y="3639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KPI 4 title"/>
          <p:cNvSpPr txBox="1"/>
          <p:nvPr/>
        </p:nvSpPr>
        <p:spPr>
          <a:xfrm>
            <a:off x="1554480" y="3538728"/>
            <a:ext cx="3200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Fraud Detection Rate</a:t>
            </a:r>
            <a:endParaRPr lang="en-US" sz="1800" dirty="0"/>
          </a:p>
        </p:txBody>
      </p:sp>
      <p:sp>
        <p:nvSpPr>
          <p:cNvPr id="22" name="KPI 4 text"/>
          <p:cNvSpPr txBox="1"/>
          <p:nvPr/>
        </p:nvSpPr>
        <p:spPr>
          <a:xfrm>
            <a:off x="4846320" y="3538728"/>
            <a:ext cx="6492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Fraud transactions that raised an alert ÷ all fraud transactions</a:t>
            </a:r>
            <a:endParaRPr lang="en-US" sz="1600" dirty="0"/>
          </a:p>
        </p:txBody>
      </p:sp>
      <p:sp>
        <p:nvSpPr>
          <p:cNvPr id="23" name="KPI 5 card"/>
          <p:cNvSpPr/>
          <p:nvPr/>
        </p:nvSpPr>
        <p:spPr>
          <a:xfrm>
            <a:off x="640080" y="4215384"/>
            <a:ext cx="10908792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4" name="KPI 5 circle"/>
          <p:cNvSpPr/>
          <p:nvPr/>
        </p:nvSpPr>
        <p:spPr>
          <a:xfrm>
            <a:off x="914400" y="431596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KPI 5 label"/>
          <p:cNvSpPr txBox="1"/>
          <p:nvPr/>
        </p:nvSpPr>
        <p:spPr>
          <a:xfrm>
            <a:off x="914400" y="4315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5</a:t>
            </a:r>
            <a:endParaRPr lang="en-US" sz="1200" dirty="0"/>
          </a:p>
        </p:txBody>
      </p:sp>
      <p:sp>
        <p:nvSpPr>
          <p:cNvPr id="26" name="KPI 5 title"/>
          <p:cNvSpPr txBox="1"/>
          <p:nvPr/>
        </p:nvSpPr>
        <p:spPr>
          <a:xfrm>
            <a:off x="1554480" y="4215384"/>
            <a:ext cx="3200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Customer Retention</a:t>
            </a:r>
            <a:endParaRPr lang="en-US" sz="1800" dirty="0"/>
          </a:p>
        </p:txBody>
      </p:sp>
      <p:sp>
        <p:nvSpPr>
          <p:cNvPr id="27" name="KPI 5 text"/>
          <p:cNvSpPr txBox="1"/>
          <p:nvPr/>
        </p:nvSpPr>
        <p:spPr>
          <a:xfrm>
            <a:off x="4846320" y="4215384"/>
            <a:ext cx="6492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Share of customers who stay active from one period to the next</a:t>
            </a:r>
            <a:endParaRPr lang="en-US" sz="1600" dirty="0"/>
          </a:p>
        </p:txBody>
      </p:sp>
      <p:sp>
        <p:nvSpPr>
          <p:cNvPr id="28" name="KPI 6 card"/>
          <p:cNvSpPr/>
          <p:nvPr/>
        </p:nvSpPr>
        <p:spPr>
          <a:xfrm>
            <a:off x="640080" y="4892040"/>
            <a:ext cx="10908792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9" name="KPI 6 circle"/>
          <p:cNvSpPr/>
          <p:nvPr/>
        </p:nvSpPr>
        <p:spPr>
          <a:xfrm>
            <a:off x="914400" y="499262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KPI 6 label"/>
          <p:cNvSpPr txBox="1"/>
          <p:nvPr/>
        </p:nvSpPr>
        <p:spPr>
          <a:xfrm>
            <a:off x="914400" y="4992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6</a:t>
            </a:r>
            <a:endParaRPr lang="en-US" sz="1200" dirty="0"/>
          </a:p>
        </p:txBody>
      </p:sp>
      <p:sp>
        <p:nvSpPr>
          <p:cNvPr id="31" name="KPI 6 title"/>
          <p:cNvSpPr txBox="1"/>
          <p:nvPr/>
        </p:nvSpPr>
        <p:spPr>
          <a:xfrm>
            <a:off x="1554480" y="4892040"/>
            <a:ext cx="3200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Merchant Activity</a:t>
            </a:r>
            <a:endParaRPr lang="en-US" sz="1800" dirty="0"/>
          </a:p>
        </p:txBody>
      </p:sp>
      <p:sp>
        <p:nvSpPr>
          <p:cNvPr id="32" name="KPI 6 text"/>
          <p:cNvSpPr txBox="1"/>
          <p:nvPr/>
        </p:nvSpPr>
        <p:spPr>
          <a:xfrm>
            <a:off x="4846320" y="4892040"/>
            <a:ext cx="6492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Active merchants and transactions per merchant per month</a:t>
            </a:r>
            <a:endParaRPr lang="en-US" sz="1600" dirty="0"/>
          </a:p>
        </p:txBody>
      </p:sp>
      <p:sp>
        <p:nvSpPr>
          <p:cNvPr id="33" name="KPI 7 card"/>
          <p:cNvSpPr/>
          <p:nvPr/>
        </p:nvSpPr>
        <p:spPr>
          <a:xfrm>
            <a:off x="640080" y="5568696"/>
            <a:ext cx="10908792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4" name="KPI 7 circle"/>
          <p:cNvSpPr/>
          <p:nvPr/>
        </p:nvSpPr>
        <p:spPr>
          <a:xfrm>
            <a:off x="914400" y="56692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5" name="KPI 7 label"/>
          <p:cNvSpPr txBox="1"/>
          <p:nvPr/>
        </p:nvSpPr>
        <p:spPr>
          <a:xfrm>
            <a:off x="914400" y="5669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7</a:t>
            </a:r>
            <a:endParaRPr lang="en-US" sz="1200" dirty="0"/>
          </a:p>
        </p:txBody>
      </p:sp>
      <p:sp>
        <p:nvSpPr>
          <p:cNvPr id="36" name="KPI 7 title"/>
          <p:cNvSpPr txBox="1"/>
          <p:nvPr/>
        </p:nvSpPr>
        <p:spPr>
          <a:xfrm>
            <a:off x="1554480" y="5568696"/>
            <a:ext cx="3200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Device Risk</a:t>
            </a:r>
            <a:endParaRPr lang="en-US" sz="1800" dirty="0"/>
          </a:p>
        </p:txBody>
      </p:sp>
      <p:sp>
        <p:nvSpPr>
          <p:cNvPr id="37" name="KPI 7 text"/>
          <p:cNvSpPr txBox="1"/>
          <p:nvPr/>
        </p:nvSpPr>
        <p:spPr>
          <a:xfrm>
            <a:off x="4846320" y="5568696"/>
            <a:ext cx="6492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Fraud rate by device, especially rooted vs non-rooted devices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6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Hypotheses to test</a:t>
            </a:r>
            <a:endParaRPr lang="en-US" sz="3600" dirty="0"/>
          </a:p>
        </p:txBody>
      </p:sp>
      <p:sp>
        <p:nvSpPr>
          <p:cNvPr id="3" name="Hypothesis 1 card"/>
          <p:cNvSpPr/>
          <p:nvPr/>
        </p:nvSpPr>
        <p:spPr>
          <a:xfrm>
            <a:off x="640080" y="1554480"/>
            <a:ext cx="10908792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Hypothesis 1 circle"/>
          <p:cNvSpPr/>
          <p:nvPr/>
        </p:nvSpPr>
        <p:spPr>
          <a:xfrm>
            <a:off x="914400" y="16687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Hypothesis 1 label"/>
          <p:cNvSpPr txBox="1"/>
          <p:nvPr/>
        </p:nvSpPr>
        <p:spPr>
          <a:xfrm>
            <a:off x="914400" y="16687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H1</a:t>
            </a:r>
            <a:endParaRPr lang="en-US" sz="1400" dirty="0"/>
          </a:p>
        </p:txBody>
      </p:sp>
      <p:sp>
        <p:nvSpPr>
          <p:cNvPr id="6" name="Hypothesis 1 text"/>
          <p:cNvSpPr txBox="1"/>
          <p:nvPr/>
        </p:nvSpPr>
        <p:spPr>
          <a:xfrm>
            <a:off x="1691640" y="155448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Rooted devices have a higher fraud rate than non-rooted devices</a:t>
            </a:r>
            <a:endParaRPr lang="en-US" sz="1800" dirty="0"/>
          </a:p>
        </p:txBody>
      </p:sp>
      <p:sp>
        <p:nvSpPr>
          <p:cNvPr id="7" name="Hypothesis 1 test chip"/>
          <p:cNvSpPr/>
          <p:nvPr/>
        </p:nvSpPr>
        <p:spPr>
          <a:xfrm>
            <a:off x="8732520" y="1737360"/>
            <a:ext cx="2560320" cy="411480"/>
          </a:xfrm>
          <a:prstGeom prst="roundRect">
            <a:avLst>
              <a:gd name="adj" fmla="val 44444"/>
            </a:avLst>
          </a:prstGeom>
          <a:solidFill>
            <a:schemeClr val="accent6"/>
          </a:solidFill>
          <a:ln/>
        </p:spPr>
      </p:sp>
      <p:sp>
        <p:nvSpPr>
          <p:cNvPr id="8" name="Hypothesis 1 test label"/>
          <p:cNvSpPr txBox="1"/>
          <p:nvPr/>
        </p:nvSpPr>
        <p:spPr>
          <a:xfrm>
            <a:off x="8732520" y="1737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Chi-square test</a:t>
            </a:r>
            <a:endParaRPr lang="en-US" sz="1400" dirty="0"/>
          </a:p>
        </p:txBody>
      </p:sp>
      <p:sp>
        <p:nvSpPr>
          <p:cNvPr id="9" name="Hypothesis 2 card"/>
          <p:cNvSpPr/>
          <p:nvPr/>
        </p:nvSpPr>
        <p:spPr>
          <a:xfrm>
            <a:off x="640080" y="2468880"/>
            <a:ext cx="10908792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Hypothesis 2 circle"/>
          <p:cNvSpPr/>
          <p:nvPr/>
        </p:nvSpPr>
        <p:spPr>
          <a:xfrm>
            <a:off x="914400" y="25831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Hypothesis 2 label"/>
          <p:cNvSpPr txBox="1"/>
          <p:nvPr/>
        </p:nvSpPr>
        <p:spPr>
          <a:xfrm>
            <a:off x="914400" y="25831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H2</a:t>
            </a:r>
            <a:endParaRPr lang="en-US" sz="1400" dirty="0"/>
          </a:p>
        </p:txBody>
      </p:sp>
      <p:sp>
        <p:nvSpPr>
          <p:cNvPr id="12" name="Hypothesis 2 text"/>
          <p:cNvSpPr txBox="1"/>
          <p:nvPr/>
        </p:nvSpPr>
        <p:spPr>
          <a:xfrm>
            <a:off x="1691640" y="246888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Fraud rate differs by channel (App, Intent, QR code)</a:t>
            </a:r>
            <a:endParaRPr lang="en-US" sz="1800" dirty="0"/>
          </a:p>
        </p:txBody>
      </p:sp>
      <p:sp>
        <p:nvSpPr>
          <p:cNvPr id="13" name="Hypothesis 2 test chip"/>
          <p:cNvSpPr/>
          <p:nvPr/>
        </p:nvSpPr>
        <p:spPr>
          <a:xfrm>
            <a:off x="8732520" y="2651760"/>
            <a:ext cx="2560320" cy="411480"/>
          </a:xfrm>
          <a:prstGeom prst="roundRect">
            <a:avLst>
              <a:gd name="adj" fmla="val 44444"/>
            </a:avLst>
          </a:prstGeom>
          <a:solidFill>
            <a:schemeClr val="accent6"/>
          </a:solidFill>
          <a:ln/>
        </p:spPr>
      </p:sp>
      <p:sp>
        <p:nvSpPr>
          <p:cNvPr id="14" name="Hypothesis 2 test label"/>
          <p:cNvSpPr txBox="1"/>
          <p:nvPr/>
        </p:nvSpPr>
        <p:spPr>
          <a:xfrm>
            <a:off x="8732520" y="26517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Chi-square test</a:t>
            </a:r>
            <a:endParaRPr lang="en-US" sz="1400" dirty="0"/>
          </a:p>
        </p:txBody>
      </p:sp>
      <p:sp>
        <p:nvSpPr>
          <p:cNvPr id="15" name="Hypothesis 3 card"/>
          <p:cNvSpPr/>
          <p:nvPr/>
        </p:nvSpPr>
        <p:spPr>
          <a:xfrm>
            <a:off x="640080" y="3383280"/>
            <a:ext cx="10908792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Hypothesis 3 circle"/>
          <p:cNvSpPr/>
          <p:nvPr/>
        </p:nvSpPr>
        <p:spPr>
          <a:xfrm>
            <a:off x="914400" y="34975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Hypothesis 3 label"/>
          <p:cNvSpPr txBox="1"/>
          <p:nvPr/>
        </p:nvSpPr>
        <p:spPr>
          <a:xfrm>
            <a:off x="914400" y="34975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H3</a:t>
            </a:r>
            <a:endParaRPr lang="en-US" sz="1400" dirty="0"/>
          </a:p>
        </p:txBody>
      </p:sp>
      <p:sp>
        <p:nvSpPr>
          <p:cNvPr id="18" name="Hypothesis 3 text"/>
          <p:cNvSpPr txBox="1"/>
          <p:nvPr/>
        </p:nvSpPr>
        <p:spPr>
          <a:xfrm>
            <a:off x="1691640" y="338328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Higher customer and merchant risk scores are linked to more fraud</a:t>
            </a:r>
            <a:endParaRPr lang="en-US" sz="1800" dirty="0"/>
          </a:p>
        </p:txBody>
      </p:sp>
      <p:sp>
        <p:nvSpPr>
          <p:cNvPr id="19" name="Hypothesis 3 test chip"/>
          <p:cNvSpPr/>
          <p:nvPr/>
        </p:nvSpPr>
        <p:spPr>
          <a:xfrm>
            <a:off x="8732520" y="3566160"/>
            <a:ext cx="2560320" cy="411480"/>
          </a:xfrm>
          <a:prstGeom prst="roundRect">
            <a:avLst>
              <a:gd name="adj" fmla="val 44444"/>
            </a:avLst>
          </a:prstGeom>
          <a:solidFill>
            <a:schemeClr val="accent6"/>
          </a:solidFill>
          <a:ln/>
        </p:spPr>
      </p:sp>
      <p:sp>
        <p:nvSpPr>
          <p:cNvPr id="20" name="Hypothesis 3 test label"/>
          <p:cNvSpPr txBox="1"/>
          <p:nvPr/>
        </p:nvSpPr>
        <p:spPr>
          <a:xfrm>
            <a:off x="8732520" y="35661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Correlation analysis</a:t>
            </a:r>
            <a:endParaRPr lang="en-US" sz="1400" dirty="0"/>
          </a:p>
        </p:txBody>
      </p:sp>
      <p:sp>
        <p:nvSpPr>
          <p:cNvPr id="21" name="Hypothesis 4 card"/>
          <p:cNvSpPr/>
          <p:nvPr/>
        </p:nvSpPr>
        <p:spPr>
          <a:xfrm>
            <a:off x="640080" y="4297680"/>
            <a:ext cx="10908792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2" name="Hypothesis 4 circle"/>
          <p:cNvSpPr/>
          <p:nvPr/>
        </p:nvSpPr>
        <p:spPr>
          <a:xfrm>
            <a:off x="914400" y="44119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Hypothesis 4 label"/>
          <p:cNvSpPr txBox="1"/>
          <p:nvPr/>
        </p:nvSpPr>
        <p:spPr>
          <a:xfrm>
            <a:off x="914400" y="44119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H4</a:t>
            </a:r>
            <a:endParaRPr lang="en-US" sz="1400" dirty="0"/>
          </a:p>
        </p:txBody>
      </p:sp>
      <p:sp>
        <p:nvSpPr>
          <p:cNvPr id="24" name="Hypothesis 4 text"/>
          <p:cNvSpPr txBox="1"/>
          <p:nvPr/>
        </p:nvSpPr>
        <p:spPr>
          <a:xfrm>
            <a:off x="1691640" y="429768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Transaction failure rate differs by device type and by region</a:t>
            </a:r>
            <a:endParaRPr lang="en-US" sz="1800" dirty="0"/>
          </a:p>
        </p:txBody>
      </p:sp>
      <p:sp>
        <p:nvSpPr>
          <p:cNvPr id="25" name="Hypothesis 4 test chip"/>
          <p:cNvSpPr/>
          <p:nvPr/>
        </p:nvSpPr>
        <p:spPr>
          <a:xfrm>
            <a:off x="8732520" y="4480560"/>
            <a:ext cx="2560320" cy="411480"/>
          </a:xfrm>
          <a:prstGeom prst="roundRect">
            <a:avLst>
              <a:gd name="adj" fmla="val 44444"/>
            </a:avLst>
          </a:prstGeom>
          <a:solidFill>
            <a:schemeClr val="accent6"/>
          </a:solidFill>
          <a:ln/>
        </p:spPr>
      </p:sp>
      <p:sp>
        <p:nvSpPr>
          <p:cNvPr id="26" name="Hypothesis 4 test label"/>
          <p:cNvSpPr txBox="1"/>
          <p:nvPr/>
        </p:nvSpPr>
        <p:spPr>
          <a:xfrm>
            <a:off x="8732520" y="4480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Chi-square test</a:t>
            </a:r>
            <a:endParaRPr lang="en-US" sz="1400" dirty="0"/>
          </a:p>
        </p:txBody>
      </p:sp>
      <p:sp>
        <p:nvSpPr>
          <p:cNvPr id="27" name="Hypothesis 5 card"/>
          <p:cNvSpPr/>
          <p:nvPr/>
        </p:nvSpPr>
        <p:spPr>
          <a:xfrm>
            <a:off x="640080" y="5212080"/>
            <a:ext cx="10908792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8" name="Hypothesis 5 circle"/>
          <p:cNvSpPr/>
          <p:nvPr/>
        </p:nvSpPr>
        <p:spPr>
          <a:xfrm>
            <a:off x="914400" y="53263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Hypothesis 5 label"/>
          <p:cNvSpPr txBox="1"/>
          <p:nvPr/>
        </p:nvSpPr>
        <p:spPr>
          <a:xfrm>
            <a:off x="914400" y="53263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H5</a:t>
            </a:r>
            <a:endParaRPr lang="en-US" sz="1400" dirty="0"/>
          </a:p>
        </p:txBody>
      </p:sp>
      <p:sp>
        <p:nvSpPr>
          <p:cNvPr id="30" name="Hypothesis 5 text"/>
          <p:cNvSpPr txBox="1"/>
          <p:nvPr/>
        </p:nvSpPr>
        <p:spPr>
          <a:xfrm>
            <a:off x="1691640" y="521208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Fraud transactions have a different average amount than genuine ones</a:t>
            </a:r>
            <a:endParaRPr lang="en-US" sz="1800" dirty="0"/>
          </a:p>
        </p:txBody>
      </p:sp>
      <p:sp>
        <p:nvSpPr>
          <p:cNvPr id="31" name="Hypothesis 5 test chip"/>
          <p:cNvSpPr/>
          <p:nvPr/>
        </p:nvSpPr>
        <p:spPr>
          <a:xfrm>
            <a:off x="8732520" y="5394960"/>
            <a:ext cx="2560320" cy="411480"/>
          </a:xfrm>
          <a:prstGeom prst="roundRect">
            <a:avLst>
              <a:gd name="adj" fmla="val 44444"/>
            </a:avLst>
          </a:prstGeom>
          <a:solidFill>
            <a:schemeClr val="accent6"/>
          </a:solidFill>
          <a:ln/>
        </p:spPr>
      </p:sp>
      <p:sp>
        <p:nvSpPr>
          <p:cNvPr id="32" name="Hypothesis 5 test label"/>
          <p:cNvSpPr txBox="1"/>
          <p:nvPr/>
        </p:nvSpPr>
        <p:spPr>
          <a:xfrm>
            <a:off x="8732520" y="53949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T-test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6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Approach and tools</a:t>
            </a:r>
            <a:endParaRPr lang="en-US" sz="3600" dirty="0"/>
          </a:p>
        </p:txBody>
      </p:sp>
      <p:sp>
        <p:nvSpPr>
          <p:cNvPr id="3" name="Phase 1 card"/>
          <p:cNvSpPr/>
          <p:nvPr/>
        </p:nvSpPr>
        <p:spPr>
          <a:xfrm>
            <a:off x="640080" y="1645920"/>
            <a:ext cx="3453689" cy="3931920"/>
          </a:xfrm>
          <a:prstGeom prst="roundRect">
            <a:avLst>
              <a:gd name="adj" fmla="val 3177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Phase 1 circle"/>
          <p:cNvSpPr/>
          <p:nvPr/>
        </p:nvSpPr>
        <p:spPr>
          <a:xfrm>
            <a:off x="914400" y="19202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Phase 1 label"/>
          <p:cNvSpPr txBox="1"/>
          <p:nvPr/>
        </p:nvSpPr>
        <p:spPr>
          <a:xfrm>
            <a:off x="91440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Phase 1 steps"/>
          <p:cNvSpPr txBox="1"/>
          <p:nvPr/>
        </p:nvSpPr>
        <p:spPr>
          <a:xfrm>
            <a:off x="1600200" y="19202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STEPS 2–5</a:t>
            </a:r>
            <a:endParaRPr lang="en-US" sz="1400" dirty="0"/>
          </a:p>
        </p:txBody>
      </p:sp>
      <p:sp>
        <p:nvSpPr>
          <p:cNvPr id="7" name="Phase 1 title"/>
          <p:cNvSpPr txBox="1"/>
          <p:nvPr/>
        </p:nvSpPr>
        <p:spPr>
          <a:xfrm>
            <a:off x="914400" y="26517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Prepare the data</a:t>
            </a:r>
            <a:endParaRPr lang="en-US" sz="2400" dirty="0"/>
          </a:p>
        </p:txBody>
      </p:sp>
      <p:sp>
        <p:nvSpPr>
          <p:cNvPr id="8" name="Phase 1 text"/>
          <p:cNvSpPr txBox="1"/>
          <p:nvPr/>
        </p:nvSpPr>
        <p:spPr>
          <a:xfrm>
            <a:off x="914400" y="32918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5"/>
                </a:solidFill>
              </a:rPr>
              <a:t>Validate in Excel, design the SQL schema, load the data and connect Python to SQL</a:t>
            </a:r>
            <a:endParaRPr lang="en-US" sz="1700" dirty="0"/>
          </a:p>
        </p:txBody>
      </p:sp>
      <p:sp>
        <p:nvSpPr>
          <p:cNvPr id="9" name="Phase 1 tools"/>
          <p:cNvSpPr txBox="1"/>
          <p:nvPr/>
        </p:nvSpPr>
        <p:spPr>
          <a:xfrm>
            <a:off x="914400" y="5029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Excel · SQL · Python</a:t>
            </a:r>
            <a:endParaRPr lang="en-US" sz="1200" dirty="0"/>
          </a:p>
        </p:txBody>
      </p:sp>
      <p:sp>
        <p:nvSpPr>
          <p:cNvPr id="10" name="Phase 2 card"/>
          <p:cNvSpPr/>
          <p:nvPr/>
        </p:nvSpPr>
        <p:spPr>
          <a:xfrm>
            <a:off x="4368089" y="1645920"/>
            <a:ext cx="3453689" cy="3931920"/>
          </a:xfrm>
          <a:prstGeom prst="roundRect">
            <a:avLst>
              <a:gd name="adj" fmla="val 3177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Phase 2 circle"/>
          <p:cNvSpPr/>
          <p:nvPr/>
        </p:nvSpPr>
        <p:spPr>
          <a:xfrm>
            <a:off x="4642409" y="19202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Phase 2 label"/>
          <p:cNvSpPr txBox="1"/>
          <p:nvPr/>
        </p:nvSpPr>
        <p:spPr>
          <a:xfrm>
            <a:off x="4642409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Phase 2 steps"/>
          <p:cNvSpPr txBox="1"/>
          <p:nvPr/>
        </p:nvSpPr>
        <p:spPr>
          <a:xfrm>
            <a:off x="5328209" y="19202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STEPS 6–7</a:t>
            </a:r>
            <a:endParaRPr lang="en-US" sz="1400" dirty="0"/>
          </a:p>
        </p:txBody>
      </p:sp>
      <p:sp>
        <p:nvSpPr>
          <p:cNvPr id="14" name="Phase 2 title"/>
          <p:cNvSpPr txBox="1"/>
          <p:nvPr/>
        </p:nvSpPr>
        <p:spPr>
          <a:xfrm>
            <a:off x="4642409" y="26517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Analyze</a:t>
            </a:r>
            <a:endParaRPr lang="en-US" sz="2400" dirty="0"/>
          </a:p>
        </p:txBody>
      </p:sp>
      <p:sp>
        <p:nvSpPr>
          <p:cNvPr id="15" name="Phase 2 text"/>
          <p:cNvSpPr txBox="1"/>
          <p:nvPr/>
        </p:nvSpPr>
        <p:spPr>
          <a:xfrm>
            <a:off x="4642409" y="32918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5"/>
                </a:solidFill>
              </a:rPr>
              <a:t>Clean the data, explore it and test each hypothesis with statistics</a:t>
            </a:r>
            <a:endParaRPr lang="en-US" sz="1700" dirty="0"/>
          </a:p>
        </p:txBody>
      </p:sp>
      <p:sp>
        <p:nvSpPr>
          <p:cNvPr id="16" name="Phase 2 tools"/>
          <p:cNvSpPr txBox="1"/>
          <p:nvPr/>
        </p:nvSpPr>
        <p:spPr>
          <a:xfrm>
            <a:off x="4642409" y="5029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Python · Pandas · SciPy</a:t>
            </a:r>
            <a:endParaRPr lang="en-US" sz="1200" dirty="0"/>
          </a:p>
        </p:txBody>
      </p:sp>
      <p:sp>
        <p:nvSpPr>
          <p:cNvPr id="17" name="Phase 3 card"/>
          <p:cNvSpPr/>
          <p:nvPr/>
        </p:nvSpPr>
        <p:spPr>
          <a:xfrm>
            <a:off x="8096098" y="1645920"/>
            <a:ext cx="3453689" cy="3931920"/>
          </a:xfrm>
          <a:prstGeom prst="roundRect">
            <a:avLst>
              <a:gd name="adj" fmla="val 3177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Phase 3 circle"/>
          <p:cNvSpPr/>
          <p:nvPr/>
        </p:nvSpPr>
        <p:spPr>
          <a:xfrm>
            <a:off x="8370418" y="19202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9" name="Phase 3 label"/>
          <p:cNvSpPr txBox="1"/>
          <p:nvPr/>
        </p:nvSpPr>
        <p:spPr>
          <a:xfrm>
            <a:off x="8370418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Phase 3 steps"/>
          <p:cNvSpPr txBox="1"/>
          <p:nvPr/>
        </p:nvSpPr>
        <p:spPr>
          <a:xfrm>
            <a:off x="9056218" y="19202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STEPS 8–9</a:t>
            </a:r>
            <a:endParaRPr lang="en-US" sz="1400" dirty="0"/>
          </a:p>
        </p:txBody>
      </p:sp>
      <p:sp>
        <p:nvSpPr>
          <p:cNvPr id="21" name="Phase 3 title"/>
          <p:cNvSpPr txBox="1"/>
          <p:nvPr/>
        </p:nvSpPr>
        <p:spPr>
          <a:xfrm>
            <a:off x="8370418" y="26517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Communicate</a:t>
            </a:r>
            <a:endParaRPr lang="en-US" sz="2400" dirty="0"/>
          </a:p>
        </p:txBody>
      </p:sp>
      <p:sp>
        <p:nvSpPr>
          <p:cNvPr id="22" name="Phase 3 text"/>
          <p:cNvSpPr txBox="1"/>
          <p:nvPr/>
        </p:nvSpPr>
        <p:spPr>
          <a:xfrm>
            <a:off x="8370418" y="32918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5"/>
                </a:solidFill>
              </a:rPr>
              <a:t>Build Power BI dashboards and a 2-page executive report with recommendations</a:t>
            </a:r>
            <a:endParaRPr lang="en-US" sz="1700" dirty="0"/>
          </a:p>
        </p:txBody>
      </p:sp>
      <p:sp>
        <p:nvSpPr>
          <p:cNvPr id="23" name="Phase 3 tools"/>
          <p:cNvSpPr txBox="1"/>
          <p:nvPr/>
        </p:nvSpPr>
        <p:spPr>
          <a:xfrm>
            <a:off x="8370418" y="5029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Power BI · Report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9C4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PI Capstone">
  <a:themeElements>
    <a:clrScheme name="UPI Capstone">
      <a:dk1>
        <a:srgbClr val="12202B"/>
      </a:dk1>
      <a:lt1>
        <a:srgbClr val="F4F6F6"/>
      </a:lt1>
      <a:dk2>
        <a:srgbClr val="1C2F3D"/>
      </a:dk2>
      <a:lt2>
        <a:srgbClr val="FFFFFF"/>
      </a:lt2>
      <a:accent1>
        <a:srgbClr val="0B6E70"/>
      </a:accent1>
      <a:accent2>
        <a:srgbClr val="E8833A"/>
      </a:accent2>
      <a:accent3>
        <a:srgbClr val="3D4A55"/>
      </a:accent3>
      <a:accent4>
        <a:srgbClr val="5B6670"/>
      </a:accent4>
      <a:accent5>
        <a:srgbClr val="B9C4CC"/>
      </a:accent5>
      <a:accent6>
        <a:srgbClr val="DDE3E3"/>
      </a:accent6>
      <a:hlink>
        <a:srgbClr val="0B6E70"/>
      </a:hlink>
      <a:folHlink>
        <a:srgbClr val="5B6670"/>
      </a:folHlink>
    </a:clrScheme>
    <a:fontScheme name="UPI Capston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UPI Analytics Capstone - Step 1: Business Understanding &amp; Analytical Plan</dc:title>
  <dc:subject>PptxGenJS Presentation</dc:subject>
  <dc:creator>PptxGenJS</dc:creator>
  <cp:lastModifiedBy>PptxGenJS</cp:lastModifiedBy>
  <cp:revision>1</cp:revision>
  <dcterms:created xsi:type="dcterms:W3CDTF">2026-10-09T05:10:30Z</dcterms:created>
  <dcterms:modified xsi:type="dcterms:W3CDTF">2026-10-09T05:10:30Z</dcterms:modified>
</cp:coreProperties>
</file>